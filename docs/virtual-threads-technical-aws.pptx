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70" r:id="rId10"/>
    <p:sldId id="271" r:id="rId11"/>
    <p:sldId id="264" r:id="rId12"/>
    <p:sldId id="265" r:id="rId13"/>
    <p:sldId id="266" r:id="rId14"/>
    <p:sldId id="272" r:id="rId15"/>
    <p:sldId id="267" r:id="rId16"/>
    <p:sldId id="268" r:id="rId17"/>
    <p:sldId id="269" r:id="rId18"/>
    <p:sldId id="273" r:id="rId24"/>
    <p:sldId id="274" r:id="rId25"/>
    <p:sldId id="275" r:id="rId26"/>
    <p:sldId id="276" r:id="rId27"/>
    <p:sldId id="277"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C6B77"/>
                </a:solidFill>
                <a:latin typeface="Calibri"/>
              </a:defRPr>
            </a:pPr>
            <a:r>
              <a:rPr lang="en-US" sz="1300" b="0" i="0" u="none" strike="noStrike">
                <a:solidFill>
                  <a:srgbClr val="5C6B77"/>
                </a:solidFill>
                <a:latin typeface="Calibri"/>
              </a:rPr>
              <a:t>Median response time (ms) by offered rate</a:t>
            </a:r>
          </a:p>
        </c:rich>
      </c:tx>
      <c:overlay val="0"/>
    </c:title>
    <c:autoTitleDeleted val="0"/>
    <c:plotArea>
      <c:layout/>
      <c:barChart>
        <c:barDir val="col"/>
        <c:grouping val="clustered"/>
        <c:varyColors val="0"/>
        <c:ser>
          <c:idx val="0"/>
          <c:order val="0"/>
          <c:tx>
            <c:strRef>
              <c:f>Sheet1!$B$1</c:f>
              <c:strCache>
                <c:ptCount val="1"/>
                <c:pt idx="0">
                  <c:v>WebFlux</c:v>
                </c:pt>
              </c:strCache>
            </c:strRef>
          </c:tx>
          <c:spPr>
            <a:solidFill>
              <a:srgbClr val="0072B2"/>
            </a:solidFill>
            <a:effectLst/>
          </c:spPr>
          <c:invertIfNegative val="0"/>
          <c:dLbls>
            <c:numFmt formatCode="#,##0" sourceLinked="0"/>
            <c:spPr>
              <a:noFill/>
              <a:ln>
                <a:noFill/>
              </a:ln>
              <a:effectLst/>
            </c:spPr>
            <c:txPr>
              <a:bodyPr/>
              <a:lstStyle/>
              <a:p>
                <a:pPr>
                  <a:defRPr sz="1000" b="0" i="0" u="none" strike="noStrike">
                    <a:solidFill>
                      <a:srgbClr val="1F29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500 rps · 30k req</c:v>
                </c:pt>
                <c:pt idx="1">
                  <c:v>1,000 rps · 60k req</c:v>
                </c:pt>
                <c:pt idx="2">
                  <c:v>1,500 rps · 90k req</c:v>
                </c:pt>
                <c:pt idx="3">
                  <c:v>2,000 rps · 120k req</c:v>
                </c:pt>
              </c:strCache>
            </c:strRef>
          </c:cat>
          <c:val>
            <c:numRef>
              <c:f>Sheet1!$B$2:$B$5</c:f>
              <c:numCache>
                <c:formatCode>General</c:formatCode>
                <c:ptCount val="4"/>
                <c:pt idx="0">
                  <c:v>200.9</c:v>
                </c:pt>
                <c:pt idx="1">
                  <c:v>200.6</c:v>
                </c:pt>
                <c:pt idx="2">
                  <c:v>200.5</c:v>
                </c:pt>
                <c:pt idx="3">
                  <c:v>200.5</c:v>
                </c:pt>
              </c:numCache>
            </c:numRef>
          </c:val>
          <c:extLst>
            <c:ext xmlns:c16="http://schemas.microsoft.com/office/drawing/2014/chart" uri="{C3380CC4-5D6E-409C-BE32-E72D297353CC}">
              <c16:uniqueId val="{00000000-EDFA-471F-9855-33CA104AA135}"/>
            </c:ext>
          </c:extLst>
        </c:ser>
        <c:ser>
          <c:idx val="1"/>
          <c:order val="1"/>
          <c:tx>
            <c:strRef>
              <c:f>Sheet1!$C$1</c:f>
              <c:strCache>
                <c:ptCount val="1"/>
                <c:pt idx="0">
                  <c:v>Virtual threads</c:v>
                </c:pt>
              </c:strCache>
            </c:strRef>
          </c:tx>
          <c:spPr>
            <a:solidFill>
              <a:srgbClr val="009E73"/>
            </a:solidFill>
            <a:effectLst/>
          </c:spPr>
          <c:invertIfNegative val="0"/>
          <c:dLbls>
            <c:numFmt formatCode="#,##0" sourceLinked="0"/>
            <c:spPr>
              <a:noFill/>
              <a:ln>
                <a:noFill/>
              </a:ln>
              <a:effectLst/>
            </c:spPr>
            <c:txPr>
              <a:bodyPr/>
              <a:lstStyle/>
              <a:p>
                <a:pPr>
                  <a:defRPr sz="1000" b="0" i="0" u="none" strike="noStrike">
                    <a:solidFill>
                      <a:srgbClr val="1F29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500 rps · 30k req</c:v>
                </c:pt>
                <c:pt idx="1">
                  <c:v>1,000 rps · 60k req</c:v>
                </c:pt>
                <c:pt idx="2">
                  <c:v>1,500 rps · 90k req</c:v>
                </c:pt>
                <c:pt idx="3">
                  <c:v>2,000 rps · 120k req</c:v>
                </c:pt>
              </c:strCache>
            </c:strRef>
          </c:cat>
          <c:val>
            <c:numRef>
              <c:f>Sheet1!$C$2:$C$5</c:f>
              <c:numCache>
                <c:formatCode>General</c:formatCode>
                <c:ptCount val="4"/>
                <c:pt idx="0">
                  <c:v>200.9</c:v>
                </c:pt>
                <c:pt idx="1">
                  <c:v>200.6</c:v>
                </c:pt>
                <c:pt idx="2">
                  <c:v>200.6</c:v>
                </c:pt>
                <c:pt idx="3">
                  <c:v>200.6</c:v>
                </c:pt>
              </c:numCache>
            </c:numRef>
          </c:val>
          <c:extLst>
            <c:ext xmlns:c16="http://schemas.microsoft.com/office/drawing/2014/chart" uri="{C3380CC4-5D6E-409C-BE32-E72D297353CC}">
              <c16:uniqueId val="{00000001-EDFA-471F-9855-33CA104AA135}"/>
            </c:ext>
          </c:extLst>
        </c:ser>
        <c:ser>
          <c:idx val="2"/>
          <c:order val="2"/>
          <c:tx>
            <c:strRef>
              <c:f>Sheet1!$D$1</c:f>
              <c:strCache>
                <c:ptCount val="1"/>
                <c:pt idx="0">
                  <c:v>Platform threads</c:v>
                </c:pt>
              </c:strCache>
            </c:strRef>
          </c:tx>
          <c:spPr>
            <a:solidFill>
              <a:srgbClr val="D55E00"/>
            </a:solidFill>
            <a:effectLst/>
          </c:spPr>
          <c:invertIfNegative val="0"/>
          <c:dLbls>
            <c:numFmt formatCode="#,##0" sourceLinked="0"/>
            <c:spPr>
              <a:noFill/>
              <a:ln>
                <a:noFill/>
              </a:ln>
              <a:effectLst/>
            </c:spPr>
            <c:txPr>
              <a:bodyPr/>
              <a:lstStyle/>
              <a:p>
                <a:pPr>
                  <a:defRPr sz="1000" b="0" i="0" u="none" strike="noStrike">
                    <a:solidFill>
                      <a:srgbClr val="1F29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500 rps · 30k req</c:v>
                </c:pt>
                <c:pt idx="1">
                  <c:v>1,000 rps · 60k req</c:v>
                </c:pt>
                <c:pt idx="2">
                  <c:v>1,500 rps · 90k req</c:v>
                </c:pt>
                <c:pt idx="3">
                  <c:v>2,000 rps · 120k req</c:v>
                </c:pt>
              </c:strCache>
            </c:strRef>
          </c:cat>
          <c:val>
            <c:numRef>
              <c:f>Sheet1!$D$2:$D$5</c:f>
              <c:numCache>
                <c:formatCode>General</c:formatCode>
                <c:ptCount val="4"/>
                <c:pt idx="0">
                  <c:v>200.9</c:v>
                </c:pt>
                <c:pt idx="1">
                  <c:v>668</c:v>
                </c:pt>
                <c:pt idx="2">
                  <c:v>1000</c:v>
                </c:pt>
                <c:pt idx="3">
                  <c:v>709.7</c:v>
                </c:pt>
              </c:numCache>
            </c:numRef>
          </c:val>
          <c:extLst>
            <c:ext xmlns:c16="http://schemas.microsoft.com/office/drawing/2014/chart" uri="{C3380CC4-5D6E-409C-BE32-E72D297353CC}">
              <c16:uniqueId val="{00000002-EDFA-471F-9855-33CA104AA13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F293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6B77"/>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B7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C6B77"/>
                </a:solidFill>
                <a:latin typeface="Calibri"/>
              </a:defRPr>
            </a:pPr>
            <a:r>
              <a:rPr lang="en-US" sz="1300" b="0" i="0" u="none" strike="noStrike">
                <a:solidFill>
                  <a:srgbClr val="5C6B77"/>
                </a:solidFill>
                <a:latin typeface="Calibri"/>
              </a:rPr>
              <a:t>95th percentile response time (ms) by offered rate</a:t>
            </a:r>
          </a:p>
        </c:rich>
      </c:tx>
      <c:overlay val="0"/>
    </c:title>
    <c:autoTitleDeleted val="0"/>
    <c:plotArea>
      <c:layout/>
      <c:barChart>
        <c:barDir val="col"/>
        <c:grouping val="clustered"/>
        <c:varyColors val="0"/>
        <c:ser>
          <c:idx val="0"/>
          <c:order val="0"/>
          <c:tx>
            <c:strRef>
              <c:f>Sheet1!$B$1</c:f>
              <c:strCache>
                <c:ptCount val="1"/>
                <c:pt idx="0">
                  <c:v>WebFlux</c:v>
                </c:pt>
              </c:strCache>
            </c:strRef>
          </c:tx>
          <c:spPr>
            <a:solidFill>
              <a:srgbClr val="0072B2"/>
            </a:solidFill>
            <a:effectLst/>
          </c:spPr>
          <c:invertIfNegative val="0"/>
          <c:dLbls>
            <c:numFmt formatCode="#,##0" sourceLinked="0"/>
            <c:spPr>
              <a:noFill/>
              <a:ln>
                <a:noFill/>
              </a:ln>
              <a:effectLst/>
            </c:spPr>
            <c:txPr>
              <a:bodyPr/>
              <a:lstStyle/>
              <a:p>
                <a:pPr>
                  <a:defRPr sz="1000" b="0" i="0" u="none" strike="noStrike">
                    <a:solidFill>
                      <a:srgbClr val="1F29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500 rps · 30k req</c:v>
                </c:pt>
                <c:pt idx="1">
                  <c:v>1,000 rps · 60k req</c:v>
                </c:pt>
                <c:pt idx="2">
                  <c:v>1,500 rps · 90k req</c:v>
                </c:pt>
              </c:strCache>
            </c:strRef>
          </c:cat>
          <c:val>
            <c:numRef>
              <c:f>Sheet1!$B$2:$B$4</c:f>
              <c:numCache>
                <c:formatCode>General</c:formatCode>
                <c:ptCount val="3"/>
                <c:pt idx="0">
                  <c:v>13.4</c:v>
                </c:pt>
                <c:pt idx="1">
                  <c:v>15.9</c:v>
                </c:pt>
                <c:pt idx="2">
                  <c:v>313</c:v>
                </c:pt>
              </c:numCache>
            </c:numRef>
          </c:val>
          <c:extLst>
            <c:ext xmlns:c16="http://schemas.microsoft.com/office/drawing/2014/chart" uri="{C3380CC4-5D6E-409C-BE32-E72D297353CC}">
              <c16:uniqueId val="{00000000-0B9B-42E2-BF24-3CE2FF4EAF37}"/>
            </c:ext>
          </c:extLst>
        </c:ser>
        <c:ser>
          <c:idx val="1"/>
          <c:order val="1"/>
          <c:tx>
            <c:strRef>
              <c:f>Sheet1!$C$1</c:f>
              <c:strCache>
                <c:ptCount val="1"/>
                <c:pt idx="0">
                  <c:v>Virtual threads</c:v>
                </c:pt>
              </c:strCache>
            </c:strRef>
          </c:tx>
          <c:spPr>
            <a:solidFill>
              <a:srgbClr val="009E73"/>
            </a:solidFill>
            <a:effectLst/>
          </c:spPr>
          <c:invertIfNegative val="0"/>
          <c:dLbls>
            <c:numFmt formatCode="#,##0" sourceLinked="0"/>
            <c:spPr>
              <a:noFill/>
              <a:ln>
                <a:noFill/>
              </a:ln>
              <a:effectLst/>
            </c:spPr>
            <c:txPr>
              <a:bodyPr/>
              <a:lstStyle/>
              <a:p>
                <a:pPr>
                  <a:defRPr sz="1000" b="0" i="0" u="none" strike="noStrike">
                    <a:solidFill>
                      <a:srgbClr val="1F29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500 rps · 30k req</c:v>
                </c:pt>
                <c:pt idx="1">
                  <c:v>1,000 rps · 60k req</c:v>
                </c:pt>
                <c:pt idx="2">
                  <c:v>1,500 rps · 90k req</c:v>
                </c:pt>
              </c:strCache>
            </c:strRef>
          </c:cat>
          <c:val>
            <c:numRef>
              <c:f>Sheet1!$C$2:$C$4</c:f>
              <c:numCache>
                <c:formatCode>General</c:formatCode>
                <c:ptCount val="3"/>
                <c:pt idx="0">
                  <c:v>13.1</c:v>
                </c:pt>
                <c:pt idx="1">
                  <c:v>12.8</c:v>
                </c:pt>
                <c:pt idx="2">
                  <c:v>19.7</c:v>
                </c:pt>
              </c:numCache>
            </c:numRef>
          </c:val>
          <c:extLst>
            <c:ext xmlns:c16="http://schemas.microsoft.com/office/drawing/2014/chart" uri="{C3380CC4-5D6E-409C-BE32-E72D297353CC}">
              <c16:uniqueId val="{00000001-0B9B-42E2-BF24-3CE2FF4EAF37}"/>
            </c:ext>
          </c:extLst>
        </c:ser>
        <c:ser>
          <c:idx val="2"/>
          <c:order val="2"/>
          <c:tx>
            <c:strRef>
              <c:f>Sheet1!$D$1</c:f>
              <c:strCache>
                <c:ptCount val="1"/>
                <c:pt idx="0">
                  <c:v>Platform threads</c:v>
                </c:pt>
              </c:strCache>
            </c:strRef>
          </c:tx>
          <c:spPr>
            <a:solidFill>
              <a:srgbClr val="D55E00"/>
            </a:solidFill>
            <a:effectLst/>
          </c:spPr>
          <c:invertIfNegative val="0"/>
          <c:dLbls>
            <c:numFmt formatCode="#,##0" sourceLinked="0"/>
            <c:spPr>
              <a:noFill/>
              <a:ln>
                <a:noFill/>
              </a:ln>
              <a:effectLst/>
            </c:spPr>
            <c:txPr>
              <a:bodyPr/>
              <a:lstStyle/>
              <a:p>
                <a:pPr>
                  <a:defRPr sz="1000" b="0" i="0" u="none" strike="noStrike">
                    <a:solidFill>
                      <a:srgbClr val="1F29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500 rps · 30k req</c:v>
                </c:pt>
                <c:pt idx="1">
                  <c:v>1,000 rps · 60k req</c:v>
                </c:pt>
                <c:pt idx="2">
                  <c:v>1,500 rps · 90k req</c:v>
                </c:pt>
              </c:strCache>
            </c:strRef>
          </c:cat>
          <c:val>
            <c:numRef>
              <c:f>Sheet1!$D$2:$D$4</c:f>
              <c:numCache>
                <c:formatCode>General</c:formatCode>
                <c:ptCount val="3"/>
                <c:pt idx="0">
                  <c:v>13.1</c:v>
                </c:pt>
                <c:pt idx="1">
                  <c:v>12.8</c:v>
                </c:pt>
                <c:pt idx="2">
                  <c:v>14.8</c:v>
                </c:pt>
              </c:numCache>
            </c:numRef>
          </c:val>
          <c:extLst>
            <c:ext xmlns:c16="http://schemas.microsoft.com/office/drawing/2014/chart" uri="{C3380CC4-5D6E-409C-BE32-E72D297353CC}">
              <c16:uniqueId val="{00000002-0B9B-42E2-BF24-3CE2FF4EAF3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F293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6B77"/>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B7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5291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supersede the laptop numbers. One finding from that run is reversed here, and one could not be measured at 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CPU is the binding resource on this box, not memory: a 1 GB heap plus metaspace, code cache and thread stacks sits comfortably inside 4 GB even for the platform-thread build running ~290 threads. Nothing in the run was memory-constrained. The load generator and backend specs were not recorded; only the system under test is characterised here, which is the one that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2,000 rps platform-thread cell is marked invalid: the generator dropped iterations against an already-failing server, so its p50 of 709.7 ms understates the load.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webflux cells and one mvc-virtual cell at this rate are marked invalid: the generator dropped iterations against an already-failing server, so their error rates understate the load. The mechanism each one shows is unaffected.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workload is to say anything about the candidates, it needs its own ladder below the ceiling - 50 to 300 rps - or a pool sized for the rates being offered. As run, it is a demonstration of failure modes.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94360" y="2011680"/>
            <a:ext cx="10058400" cy="86868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WebFlux → Virtual Threads</a:t>
            </a:r>
            <a:endParaRPr lang="en-US" sz="4200" dirty="0"/>
          </a:p>
        </p:txBody>
      </p:sp>
      <p:sp>
        <p:nvSpPr>
          <p:cNvPr id="3" name="Text 1"/>
          <p:cNvSpPr txBox="1"/>
          <p:nvPr/>
        </p:nvSpPr>
        <p:spPr>
          <a:xfrm>
            <a:off x="594360" y="2926080"/>
            <a:ext cx="10058400" cy="457200"/>
          </a:xfrm>
          <a:prstGeom prst="rect">
            <a:avLst/>
          </a:prstGeom>
          <a:noFill/>
          <a:ln/>
        </p:spPr>
        <p:txBody>
          <a:bodyPr wrap="square" lIns="0" tIns="0" rIns="0" bIns="0" rtlCol="0" anchor="ctr"/>
          <a:lstStyle/>
          <a:p>
            <a:pPr marL="0" indent="0">
              <a:buNone/>
            </a:pPr>
            <a:r>
              <a:rPr lang="en-US" sz="1900" dirty="0">
                <a:solidFill>
                  <a:srgbClr val="B9C4CC"/>
                </a:solidFill>
                <a:latin typeface="Calibri" pitchFamily="34" charset="0"/>
                <a:ea typeface="Calibri" pitchFamily="34" charset="-122"/>
                <a:cs typeface="Calibri" pitchFamily="34" charset="-120"/>
              </a:rPr>
              <a:t>Results from the three-machine AWS run</a:t>
            </a:r>
            <a:endParaRPr lang="en-US" sz="1900" dirty="0"/>
          </a:p>
        </p:txBody>
      </p:sp>
      <p:sp>
        <p:nvSpPr>
          <p:cNvPr id="4" name="Text 2"/>
          <p:cNvSpPr txBox="1"/>
          <p:nvPr/>
        </p:nvSpPr>
        <p:spPr>
          <a:xfrm>
            <a:off x="594360" y="3931920"/>
            <a:ext cx="10058400" cy="320040"/>
          </a:xfrm>
          <a:prstGeom prst="rect">
            <a:avLst/>
          </a:prstGeom>
          <a:noFill/>
          <a:ln/>
        </p:spPr>
        <p:txBody>
          <a:bodyPr wrap="square" lIns="0" tIns="0" rIns="0" bIns="0" rtlCol="0" anchor="ctr"/>
          <a:lstStyle/>
          <a:p>
            <a:pPr marL="0" indent="0">
              <a:buNone/>
            </a:pPr>
            <a:r>
              <a:rPr lang="en-US" sz="1400" dirty="0">
                <a:solidFill>
                  <a:srgbClr val="8896A2"/>
                </a:solidFill>
                <a:latin typeface="Calibri" pitchFamily="34" charset="0"/>
                <a:ea typeface="Calibri" pitchFamily="34" charset="-122"/>
                <a:cs typeface="Calibri" pitchFamily="34" charset="-120"/>
              </a:rPr>
              <a:t>120 cells · 3 builds × 5 workloads × 4 rates × 2 repetitions</a:t>
            </a:r>
            <a:endParaRPr lang="en-US" sz="1400" dirty="0"/>
          </a:p>
        </p:txBody>
      </p:sp>
      <p:sp>
        <p:nvSpPr>
          <p:cNvPr id="5" name="Text 3"/>
          <p:cNvSpPr txBox="1"/>
          <p:nvPr/>
        </p:nvSpPr>
        <p:spPr>
          <a:xfrm>
            <a:off x="594360" y="5943600"/>
            <a:ext cx="10972800" cy="274320"/>
          </a:xfrm>
          <a:prstGeom prst="rect">
            <a:avLst/>
          </a:prstGeom>
          <a:noFill/>
          <a:ln/>
        </p:spPr>
        <p:txBody>
          <a:bodyPr wrap="square" lIns="0" tIns="0" rIns="0" bIns="0" rtlCol="0" anchor="ctr"/>
          <a:lstStyle/>
          <a:p>
            <a:pPr marL="0" indent="0">
              <a:buNone/>
            </a:pPr>
            <a:r>
              <a:rPr lang="en-US" sz="1200" dirty="0">
                <a:solidFill>
                  <a:srgbClr val="8896A2"/>
                </a:solidFill>
                <a:latin typeface="Calibri" pitchFamily="34" charset="0"/>
                <a:ea typeface="Calibri" pitchFamily="34" charset="-122"/>
                <a:cs typeface="Calibri" pitchFamily="34" charset="-120"/>
              </a:rPr>
              <a:t>21 September 2026  ·  OpenJDK 25.0.4  ·  Spring Boot 4.1.1  ·  PostgreSQL 17  ·  k6 v2.2.0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TEST ARCHITECTURE</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How the test machines were arranged</a:t>
            </a:r>
            <a:endParaRPr lang="en-US" sz="2900" dirty="0"/>
          </a:p>
        </p:txBody>
      </p:sp>
      <p:sp>
        <p:nvSpPr>
          <p:cNvPr id="4" name="Shape 2"/>
          <p:cNvSpPr/>
          <p:nvPr/>
        </p:nvSpPr>
        <p:spPr>
          <a:xfrm>
            <a:off x="594360" y="1554480"/>
            <a:ext cx="3200400" cy="2286000"/>
          </a:xfrm>
          <a:prstGeom prst="roundRect">
            <a:avLst>
              <a:gd name="adj" fmla="val 3200"/>
            </a:avLst>
          </a:prstGeom>
          <a:solidFill>
            <a:srgbClr val="F2F5F7"/>
          </a:solidFill>
          <a:ln w="12700">
            <a:solidFill>
              <a:srgbClr val="F2F5F7"/>
            </a:solidFill>
            <a:prstDash val="solid"/>
          </a:ln>
        </p:spPr>
        <p:txBody>
          <a:bodyPr/>
          <a:lstStyle/>
          <a:p>
            <a:endParaRPr lang="en-US"/>
          </a:p>
        </p:txBody>
      </p:sp>
      <p:sp>
        <p:nvSpPr>
          <p:cNvPr id="5" name="Shape 3"/>
          <p:cNvSpPr/>
          <p:nvPr/>
        </p:nvSpPr>
        <p:spPr>
          <a:xfrm>
            <a:off x="868680" y="1810512"/>
            <a:ext cx="274320" cy="274320"/>
          </a:xfrm>
          <a:prstGeom prst="ellipse">
            <a:avLst/>
          </a:prstGeom>
          <a:solidFill>
            <a:srgbClr val="5C6B77"/>
          </a:solidFill>
          <a:ln/>
        </p:spPr>
        <p:txBody>
          <a:bodyPr/>
          <a:lstStyle/>
          <a:p>
            <a:endParaRPr lang="en-US"/>
          </a:p>
        </p:txBody>
      </p:sp>
      <p:sp>
        <p:nvSpPr>
          <p:cNvPr id="6" name="Text 4"/>
          <p:cNvSpPr txBox="1"/>
          <p:nvPr/>
        </p:nvSpPr>
        <p:spPr>
          <a:xfrm>
            <a:off x="868680" y="2194560"/>
            <a:ext cx="2651760" cy="292608"/>
          </a:xfrm>
          <a:prstGeom prst="rect">
            <a:avLst/>
          </a:prstGeom>
          <a:noFill/>
          <a:ln/>
        </p:spPr>
        <p:txBody>
          <a:bodyPr wrap="square" lIns="0" tIns="0" rIns="0" bIns="0" rtlCol="0" anchor="ctr"/>
          <a:lstStyle/>
          <a:p>
            <a:pPr marL="0" indent="0">
              <a:buNone/>
            </a:pPr>
            <a:r>
              <a:rPr lang="en-US" sz="1700" b="1" dirty="0">
                <a:solidFill>
                  <a:srgbClr val="1F2933"/>
                </a:solidFill>
                <a:latin typeface="Cambria" pitchFamily="34" charset="0"/>
                <a:ea typeface="Cambria" pitchFamily="34" charset="-122"/>
                <a:cs typeface="Cambria" pitchFamily="34" charset="-120"/>
              </a:rPr>
              <a:t>Load generator</a:t>
            </a:r>
            <a:endParaRPr lang="en-US" sz="1700" dirty="0"/>
          </a:p>
        </p:txBody>
      </p:sp>
      <p:sp>
        <p:nvSpPr>
          <p:cNvPr id="7" name="Text 5"/>
          <p:cNvSpPr txBox="1"/>
          <p:nvPr/>
        </p:nvSpPr>
        <p:spPr>
          <a:xfrm>
            <a:off x="868680" y="2496312"/>
            <a:ext cx="2651760" cy="256032"/>
          </a:xfrm>
          <a:prstGeom prst="rect">
            <a:avLst/>
          </a:prstGeom>
          <a:noFill/>
          <a:ln/>
        </p:spPr>
        <p:txBody>
          <a:bodyPr wrap="square" lIns="0" tIns="0" rIns="0" bIns="0" rtlCol="0" anchor="ctr"/>
          <a:lstStyle/>
          <a:p>
            <a:pPr marL="0" indent="0">
              <a:buNone/>
            </a:pPr>
            <a:r>
              <a:rPr lang="en-US" sz="1100" dirty="0">
                <a:solidFill>
                  <a:srgbClr val="5C6B77"/>
                </a:solidFill>
                <a:latin typeface="Courier New" pitchFamily="34" charset="0"/>
                <a:ea typeface="Courier New" pitchFamily="34" charset="-122"/>
                <a:cs typeface="Courier New" pitchFamily="34" charset="-120"/>
              </a:rPr>
              <a:t>k6</a:t>
            </a:r>
            <a:endParaRPr lang="en-US" sz="1100" dirty="0"/>
          </a:p>
        </p:txBody>
      </p:sp>
      <p:sp>
        <p:nvSpPr>
          <p:cNvPr id="8" name="Text 6"/>
          <p:cNvSpPr txBox="1"/>
          <p:nvPr/>
        </p:nvSpPr>
        <p:spPr>
          <a:xfrm>
            <a:off x="868680" y="2816352"/>
            <a:ext cx="2697480" cy="914400"/>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Offers a fixed rate whether</a:t>
            </a:r>
            <a:endParaRPr lang="en-US" sz="1200" dirty="0"/>
          </a:p>
          <a:p>
            <a:pPr marL="0" indent="0">
              <a:buNone/>
            </a:pPr>
            <a:r>
              <a:rPr lang="en-US" sz="1200" dirty="0">
                <a:solidFill>
                  <a:srgbClr val="5C6B77"/>
                </a:solidFill>
                <a:latin typeface="Calibri" pitchFamily="34" charset="0"/>
                <a:ea typeface="Calibri" pitchFamily="34" charset="-122"/>
                <a:cs typeface="Calibri" pitchFamily="34" charset="-120"/>
              </a:rPr>
              <a:t>or not the system keeps up</a:t>
            </a:r>
            <a:endParaRPr lang="en-US" sz="1200" dirty="0"/>
          </a:p>
          <a:p>
            <a:pPr marL="0" indent="0">
              <a:buNone/>
            </a:pPr>
            <a:r>
              <a:rPr lang="en-US" sz="1200" dirty="0">
                <a:solidFill>
                  <a:srgbClr val="5C6B77"/>
                </a:solidFill>
                <a:latin typeface="Calibri" pitchFamily="34" charset="0"/>
                <a:ea typeface="Calibri" pitchFamily="34" charset="-122"/>
                <a:cs typeface="Calibri" pitchFamily="34" charset="-120"/>
              </a:rPr>
              <a:t>Never the bottleneck</a:t>
            </a:r>
            <a:endParaRPr lang="en-US" sz="1200" dirty="0"/>
          </a:p>
        </p:txBody>
      </p:sp>
      <p:sp>
        <p:nvSpPr>
          <p:cNvPr id="9" name="Text 7"/>
          <p:cNvSpPr txBox="1"/>
          <p:nvPr/>
        </p:nvSpPr>
        <p:spPr>
          <a:xfrm>
            <a:off x="3867912" y="2423160"/>
            <a:ext cx="630936" cy="365760"/>
          </a:xfrm>
          <a:prstGeom prst="rect">
            <a:avLst/>
          </a:prstGeom>
          <a:noFill/>
          <a:ln/>
        </p:spPr>
        <p:txBody>
          <a:bodyPr wrap="square" lIns="0" tIns="0" rIns="0" bIns="0" rtlCol="0" anchor="ctr"/>
          <a:lstStyle/>
          <a:p>
            <a:pPr marL="0" indent="0" algn="ctr">
              <a:buNone/>
            </a:pPr>
            <a:r>
              <a:rPr lang="en-US" sz="2200" dirty="0">
                <a:solidFill>
                  <a:srgbClr val="D9E0E6"/>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572000" y="1554480"/>
            <a:ext cx="3200400" cy="2286000"/>
          </a:xfrm>
          <a:prstGeom prst="roundRect">
            <a:avLst>
              <a:gd name="adj" fmla="val 3200"/>
            </a:avLst>
          </a:prstGeom>
          <a:solidFill>
            <a:srgbClr val="F2F5F7"/>
          </a:solidFill>
          <a:ln w="12700">
            <a:solidFill>
              <a:srgbClr val="F2F5F7"/>
            </a:solidFill>
            <a:prstDash val="solid"/>
          </a:ln>
        </p:spPr>
        <p:txBody>
          <a:bodyPr/>
          <a:lstStyle/>
          <a:p>
            <a:endParaRPr lang="en-US"/>
          </a:p>
        </p:txBody>
      </p:sp>
      <p:sp>
        <p:nvSpPr>
          <p:cNvPr id="11" name="Shape 9"/>
          <p:cNvSpPr/>
          <p:nvPr/>
        </p:nvSpPr>
        <p:spPr>
          <a:xfrm>
            <a:off x="4846320" y="1810512"/>
            <a:ext cx="274320" cy="274320"/>
          </a:xfrm>
          <a:prstGeom prst="ellipse">
            <a:avLst/>
          </a:prstGeom>
          <a:solidFill>
            <a:srgbClr val="009E73"/>
          </a:solidFill>
          <a:ln/>
        </p:spPr>
        <p:txBody>
          <a:bodyPr/>
          <a:lstStyle/>
          <a:p>
            <a:endParaRPr lang="en-US"/>
          </a:p>
        </p:txBody>
      </p:sp>
      <p:sp>
        <p:nvSpPr>
          <p:cNvPr id="12" name="Text 10"/>
          <p:cNvSpPr txBox="1"/>
          <p:nvPr/>
        </p:nvSpPr>
        <p:spPr>
          <a:xfrm>
            <a:off x="4846320" y="2194560"/>
            <a:ext cx="2651760" cy="292608"/>
          </a:xfrm>
          <a:prstGeom prst="rect">
            <a:avLst/>
          </a:prstGeom>
          <a:noFill/>
          <a:ln/>
        </p:spPr>
        <p:txBody>
          <a:bodyPr wrap="square" lIns="0" tIns="0" rIns="0" bIns="0" rtlCol="0" anchor="ctr"/>
          <a:lstStyle/>
          <a:p>
            <a:pPr marL="0" indent="0">
              <a:buNone/>
            </a:pPr>
            <a:r>
              <a:rPr lang="en-US" sz="1700" b="1" dirty="0">
                <a:solidFill>
                  <a:srgbClr val="1F2933"/>
                </a:solidFill>
                <a:latin typeface="Cambria" pitchFamily="34" charset="0"/>
                <a:ea typeface="Cambria" pitchFamily="34" charset="-122"/>
                <a:cs typeface="Cambria" pitchFamily="34" charset="-120"/>
              </a:rPr>
              <a:t>System under test</a:t>
            </a:r>
            <a:endParaRPr lang="en-US" sz="1700" dirty="0"/>
          </a:p>
        </p:txBody>
      </p:sp>
      <p:sp>
        <p:nvSpPr>
          <p:cNvPr id="13" name="Text 11"/>
          <p:cNvSpPr txBox="1"/>
          <p:nvPr/>
        </p:nvSpPr>
        <p:spPr>
          <a:xfrm>
            <a:off x="4846320" y="2496312"/>
            <a:ext cx="2651760" cy="256032"/>
          </a:xfrm>
          <a:prstGeom prst="rect">
            <a:avLst/>
          </a:prstGeom>
          <a:noFill/>
          <a:ln/>
        </p:spPr>
        <p:txBody>
          <a:bodyPr wrap="square" lIns="0" tIns="0" rIns="0" bIns="0" rtlCol="0" anchor="ctr"/>
          <a:lstStyle/>
          <a:p>
            <a:pPr marL="0" indent="0">
              <a:buNone/>
            </a:pPr>
            <a:r>
              <a:rPr lang="en-US" sz="1100" dirty="0">
                <a:solidFill>
                  <a:srgbClr val="5C6B77"/>
                </a:solidFill>
                <a:latin typeface="Courier New" pitchFamily="34" charset="0"/>
                <a:ea typeface="Courier New" pitchFamily="34" charset="-122"/>
                <a:cs typeface="Courier New" pitchFamily="34" charset="-120"/>
              </a:rPr>
              <a:t>c7i.large · 2 vCPU · 4 GB</a:t>
            </a:r>
            <a:endParaRPr lang="en-US" sz="1100" dirty="0"/>
          </a:p>
        </p:txBody>
      </p:sp>
      <p:sp>
        <p:nvSpPr>
          <p:cNvPr id="14" name="Text 12"/>
          <p:cNvSpPr txBox="1"/>
          <p:nvPr/>
        </p:nvSpPr>
        <p:spPr>
          <a:xfrm>
            <a:off x="4846320" y="2816352"/>
            <a:ext cx="2697480" cy="914400"/>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One build at a time on :8080</a:t>
            </a:r>
            <a:endParaRPr lang="en-US" sz="1200" dirty="0"/>
          </a:p>
          <a:p>
            <a:pPr marL="0" indent="0">
              <a:buNone/>
            </a:pPr>
            <a:r>
              <a:rPr lang="en-US" sz="1200" dirty="0">
                <a:solidFill>
                  <a:srgbClr val="5C6B77"/>
                </a:solidFill>
                <a:latin typeface="Calibri" pitchFamily="34" charset="0"/>
                <a:ea typeface="Calibri" pitchFamily="34" charset="-122"/>
                <a:cs typeface="Calibri" pitchFamily="34" charset="-120"/>
              </a:rPr>
              <a:t>-Xmx1g, G1, pool of 20</a:t>
            </a:r>
            <a:endParaRPr lang="en-US" sz="1200" dirty="0"/>
          </a:p>
          <a:p>
            <a:pPr marL="0" indent="0">
              <a:buNone/>
            </a:pPr>
            <a:r>
              <a:rPr lang="en-US" sz="1200" dirty="0">
                <a:solidFill>
                  <a:srgbClr val="5C6B77"/>
                </a:solidFill>
                <a:latin typeface="Calibri" pitchFamily="34" charset="0"/>
                <a:ea typeface="Calibri" pitchFamily="34" charset="-122"/>
                <a:cs typeface="Calibri" pitchFamily="34" charset="-120"/>
              </a:rPr>
              <a:t>The only thing measured</a:t>
            </a:r>
            <a:endParaRPr lang="en-US" sz="1200" dirty="0"/>
          </a:p>
        </p:txBody>
      </p:sp>
      <p:sp>
        <p:nvSpPr>
          <p:cNvPr id="15" name="Text 13"/>
          <p:cNvSpPr txBox="1"/>
          <p:nvPr/>
        </p:nvSpPr>
        <p:spPr>
          <a:xfrm>
            <a:off x="7845552" y="2423160"/>
            <a:ext cx="630936" cy="365760"/>
          </a:xfrm>
          <a:prstGeom prst="rect">
            <a:avLst/>
          </a:prstGeom>
          <a:noFill/>
          <a:ln/>
        </p:spPr>
        <p:txBody>
          <a:bodyPr wrap="square" lIns="0" tIns="0" rIns="0" bIns="0" rtlCol="0" anchor="ctr"/>
          <a:lstStyle/>
          <a:p>
            <a:pPr marL="0" indent="0" algn="ctr">
              <a:buNone/>
            </a:pPr>
            <a:r>
              <a:rPr lang="en-US" sz="2200" dirty="0">
                <a:solidFill>
                  <a:srgbClr val="D9E0E6"/>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549640" y="1554480"/>
            <a:ext cx="3200400" cy="2286000"/>
          </a:xfrm>
          <a:prstGeom prst="roundRect">
            <a:avLst>
              <a:gd name="adj" fmla="val 3200"/>
            </a:avLst>
          </a:prstGeom>
          <a:solidFill>
            <a:srgbClr val="F2F5F7"/>
          </a:solidFill>
          <a:ln w="12700">
            <a:solidFill>
              <a:srgbClr val="F2F5F7"/>
            </a:solidFill>
            <a:prstDash val="solid"/>
          </a:ln>
        </p:spPr>
        <p:txBody>
          <a:bodyPr/>
          <a:lstStyle/>
          <a:p>
            <a:endParaRPr lang="en-US"/>
          </a:p>
        </p:txBody>
      </p:sp>
      <p:sp>
        <p:nvSpPr>
          <p:cNvPr id="17" name="Shape 15"/>
          <p:cNvSpPr/>
          <p:nvPr/>
        </p:nvSpPr>
        <p:spPr>
          <a:xfrm>
            <a:off x="8823960" y="1810512"/>
            <a:ext cx="274320" cy="274320"/>
          </a:xfrm>
          <a:prstGeom prst="ellipse">
            <a:avLst/>
          </a:prstGeom>
          <a:solidFill>
            <a:srgbClr val="0072B2"/>
          </a:solidFill>
          <a:ln/>
        </p:spPr>
        <p:txBody>
          <a:bodyPr/>
          <a:lstStyle/>
          <a:p>
            <a:endParaRPr lang="en-US"/>
          </a:p>
        </p:txBody>
      </p:sp>
      <p:sp>
        <p:nvSpPr>
          <p:cNvPr id="18" name="Text 16"/>
          <p:cNvSpPr txBox="1"/>
          <p:nvPr/>
        </p:nvSpPr>
        <p:spPr>
          <a:xfrm>
            <a:off x="8823960" y="2194560"/>
            <a:ext cx="2651760" cy="292608"/>
          </a:xfrm>
          <a:prstGeom prst="rect">
            <a:avLst/>
          </a:prstGeom>
          <a:noFill/>
          <a:ln/>
        </p:spPr>
        <p:txBody>
          <a:bodyPr wrap="square" lIns="0" tIns="0" rIns="0" bIns="0" rtlCol="0" anchor="ctr"/>
          <a:lstStyle/>
          <a:p>
            <a:pPr marL="0" indent="0">
              <a:buNone/>
            </a:pPr>
            <a:r>
              <a:rPr lang="en-US" sz="1700" b="1" dirty="0">
                <a:solidFill>
                  <a:srgbClr val="1F2933"/>
                </a:solidFill>
                <a:latin typeface="Cambria" pitchFamily="34" charset="0"/>
                <a:ea typeface="Cambria" pitchFamily="34" charset="-122"/>
                <a:cs typeface="Cambria" pitchFamily="34" charset="-120"/>
              </a:rPr>
              <a:t>Backend</a:t>
            </a:r>
            <a:endParaRPr lang="en-US" sz="1700" dirty="0"/>
          </a:p>
        </p:txBody>
      </p:sp>
      <p:sp>
        <p:nvSpPr>
          <p:cNvPr id="19" name="Text 17"/>
          <p:cNvSpPr txBox="1"/>
          <p:nvPr/>
        </p:nvSpPr>
        <p:spPr>
          <a:xfrm>
            <a:off x="8823960" y="2496312"/>
            <a:ext cx="2651760" cy="256032"/>
          </a:xfrm>
          <a:prstGeom prst="rect">
            <a:avLst/>
          </a:prstGeom>
          <a:noFill/>
          <a:ln/>
        </p:spPr>
        <p:txBody>
          <a:bodyPr wrap="square" lIns="0" tIns="0" rIns="0" bIns="0" rtlCol="0" anchor="ctr"/>
          <a:lstStyle/>
          <a:p>
            <a:pPr marL="0" indent="0">
              <a:buNone/>
            </a:pPr>
            <a:r>
              <a:rPr lang="en-US" sz="1100" dirty="0">
                <a:solidFill>
                  <a:srgbClr val="5C6B77"/>
                </a:solidFill>
                <a:latin typeface="Courier New" pitchFamily="34" charset="0"/>
                <a:ea typeface="Courier New" pitchFamily="34" charset="-122"/>
                <a:cs typeface="Courier New" pitchFamily="34" charset="-120"/>
              </a:rPr>
              <a:t>PostgreSQL 17 + stub</a:t>
            </a:r>
            <a:endParaRPr lang="en-US" sz="1100" dirty="0"/>
          </a:p>
        </p:txBody>
      </p:sp>
      <p:sp>
        <p:nvSpPr>
          <p:cNvPr id="20" name="Text 18"/>
          <p:cNvSpPr txBox="1"/>
          <p:nvPr/>
        </p:nvSpPr>
        <p:spPr>
          <a:xfrm>
            <a:off x="8823960" y="2816352"/>
            <a:ext cx="2697480" cy="914400"/>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Database on its own CPUs</a:t>
            </a:r>
            <a:endParaRPr lang="en-US" sz="1200" dirty="0"/>
          </a:p>
          <a:p>
            <a:pPr marL="0" indent="0">
              <a:buNone/>
            </a:pPr>
            <a:r>
              <a:rPr lang="en-US" sz="1200" dirty="0">
                <a:solidFill>
                  <a:srgbClr val="5C6B77"/>
                </a:solidFill>
                <a:latin typeface="Calibri" pitchFamily="34" charset="0"/>
                <a:ea typeface="Calibri" pitchFamily="34" charset="-122"/>
                <a:cs typeface="Calibri" pitchFamily="34" charset="-120"/>
              </a:rPr>
              <a:t>Stub returns after 200 ms</a:t>
            </a:r>
            <a:endParaRPr lang="en-US" sz="1200" dirty="0"/>
          </a:p>
          <a:p>
            <a:pPr marL="0" indent="0">
              <a:buNone/>
            </a:pPr>
            <a:r>
              <a:rPr lang="en-US" sz="1200" dirty="0">
                <a:solidFill>
                  <a:srgbClr val="5C6B77"/>
                </a:solidFill>
                <a:latin typeface="Calibri" pitchFamily="34" charset="0"/>
                <a:ea typeface="Calibri" pitchFamily="34" charset="-122"/>
                <a:cs typeface="Calibri" pitchFamily="34" charset="-120"/>
              </a:rPr>
              <a:t>Never competes with the app</a:t>
            </a:r>
            <a:endParaRPr lang="en-US" sz="1200" dirty="0"/>
          </a:p>
        </p:txBody>
      </p:sp>
      <p:sp>
        <p:nvSpPr>
          <p:cNvPr id="26" name="Text 24"/>
          <p:cNvSpPr txBox="1"/>
          <p:nvPr/>
        </p:nvSpPr>
        <p:spPr>
          <a:xfrm>
            <a:off x="594360" y="5303520"/>
            <a:ext cx="5303520" cy="256032"/>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One availability zone</a:t>
            </a:r>
            <a:endParaRPr lang="en-US" sz="1300" dirty="0"/>
          </a:p>
        </p:txBody>
      </p:sp>
      <p:sp>
        <p:nvSpPr>
          <p:cNvPr id="27" name="Text 25"/>
          <p:cNvSpPr txBox="1"/>
          <p:nvPr/>
        </p:nvSpPr>
        <p:spPr>
          <a:xfrm>
            <a:off x="594360" y="5559552"/>
            <a:ext cx="5303520" cy="475488"/>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Cross-zone adds latency with real variance. Availability is irrelevant here; consistency is everything.</a:t>
            </a:r>
            <a:endParaRPr lang="en-US" sz="1200" dirty="0"/>
          </a:p>
        </p:txBody>
      </p:sp>
      <p:sp>
        <p:nvSpPr>
          <p:cNvPr id="28" name="Text 26"/>
          <p:cNvSpPr txBox="1"/>
          <p:nvPr/>
        </p:nvSpPr>
        <p:spPr>
          <a:xfrm>
            <a:off x="6263640" y="5303520"/>
            <a:ext cx="5303520" cy="256032"/>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Only 2 vCPU under test</a:t>
            </a:r>
            <a:endParaRPr lang="en-US" sz="1300" dirty="0"/>
          </a:p>
        </p:txBody>
      </p:sp>
      <p:sp>
        <p:nvSpPr>
          <p:cNvPr id="29" name="Text 27"/>
          <p:cNvSpPr txBox="1"/>
          <p:nvPr/>
        </p:nvSpPr>
        <p:spPr>
          <a:xfrm>
            <a:off x="6263640" y="5559552"/>
            <a:ext cx="5303520" cy="475488"/>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Deliberately small. A thread model only shows itself when something is scarce.</a:t>
            </a:r>
            <a:endParaRPr lang="en-US" sz="1200" dirty="0"/>
          </a:p>
        </p:txBody>
      </p:sp>
      <p:sp>
        <p:nvSpPr>
          <p:cNvPr id="30" name="Text 28"/>
          <p:cNvSpPr txBox="1"/>
          <p:nvPr/>
        </p:nvSpPr>
        <p:spPr>
          <a:xfrm>
            <a:off x="594360" y="6108192"/>
            <a:ext cx="10972800" cy="548640"/>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The system under test is a c7i.large: 2 vCPU, x86_64, 4 GB. Compute-optimised and non-burstable, so it cannot be throttled mid-run the way a t-family instance can. Its telemetry agrees independently — system_cpu_count reports 2, heap max 1 GB, OpenJDK 25.0.4 on Ubuntu, pool of 20 on both the JDBC and R2DBC sides.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WHAT WAS BUILT</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Three builds, one variable each</a:t>
            </a:r>
            <a:endParaRPr lang="en-US" sz="2900" dirty="0"/>
          </a:p>
        </p:txBody>
      </p:sp>
      <p:sp>
        <p:nvSpPr>
          <p:cNvPr id="4" name="Shape 2"/>
          <p:cNvSpPr/>
          <p:nvPr/>
        </p:nvSpPr>
        <p:spPr>
          <a:xfrm>
            <a:off x="594360" y="1687068"/>
            <a:ext cx="146304" cy="146304"/>
          </a:xfrm>
          <a:prstGeom prst="ellipse">
            <a:avLst/>
          </a:prstGeom>
          <a:solidFill>
            <a:srgbClr val="0072B2"/>
          </a:solidFill>
          <a:ln/>
        </p:spPr>
        <p:txBody>
          <a:bodyPr/>
          <a:lstStyle/>
          <a:p>
            <a:endParaRPr lang="en-US"/>
          </a:p>
        </p:txBody>
      </p:sp>
      <p:sp>
        <p:nvSpPr>
          <p:cNvPr id="5" name="Text 3"/>
          <p:cNvSpPr txBox="1"/>
          <p:nvPr/>
        </p:nvSpPr>
        <p:spPr>
          <a:xfrm>
            <a:off x="832104" y="1645920"/>
            <a:ext cx="2743200" cy="237744"/>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webflux-r2dbc</a:t>
            </a:r>
            <a:endParaRPr lang="en-US" sz="1500" dirty="0"/>
          </a:p>
        </p:txBody>
      </p:sp>
      <p:sp>
        <p:nvSpPr>
          <p:cNvPr id="6" name="Text 4"/>
          <p:cNvSpPr txBox="1"/>
          <p:nvPr/>
        </p:nvSpPr>
        <p:spPr>
          <a:xfrm>
            <a:off x="3703320" y="1645920"/>
            <a:ext cx="7863840" cy="685800"/>
          </a:xfrm>
          <a:prstGeom prst="rect">
            <a:avLst/>
          </a:prstGeom>
          <a:noFill/>
          <a:ln/>
        </p:spPr>
        <p:txBody>
          <a:bodyPr wrap="square" lIns="0" tIns="0" rIns="0" bIns="0" rtlCol="0" anchor="ctr"/>
          <a:lstStyle/>
          <a:p>
            <a:pPr marL="0" indent="0">
              <a:buNone/>
            </a:pPr>
            <a:r>
              <a:rPr lang="en-US" sz="1400" dirty="0">
                <a:solidFill>
                  <a:srgbClr val="5C6B77"/>
                </a:solidFill>
                <a:latin typeface="Calibri" pitchFamily="34" charset="0"/>
                <a:ea typeface="Calibri" pitchFamily="34" charset="-122"/>
                <a:cs typeface="Calibri" pitchFamily="34" charset="-120"/>
              </a:rPr>
              <a:t>Current stack. Netty, Spring Data R2DBC, r2dbc-postgresql, WebClient.</a:t>
            </a:r>
            <a:endParaRPr lang="en-US" sz="1400" dirty="0"/>
          </a:p>
        </p:txBody>
      </p:sp>
      <p:sp>
        <p:nvSpPr>
          <p:cNvPr id="7" name="Shape 5"/>
          <p:cNvSpPr/>
          <p:nvPr/>
        </p:nvSpPr>
        <p:spPr>
          <a:xfrm>
            <a:off x="594360" y="2738628"/>
            <a:ext cx="146304" cy="146304"/>
          </a:xfrm>
          <a:prstGeom prst="ellipse">
            <a:avLst/>
          </a:prstGeom>
          <a:solidFill>
            <a:srgbClr val="009E73"/>
          </a:solidFill>
          <a:ln/>
        </p:spPr>
        <p:txBody>
          <a:bodyPr/>
          <a:lstStyle/>
          <a:p>
            <a:endParaRPr lang="en-US"/>
          </a:p>
        </p:txBody>
      </p:sp>
      <p:sp>
        <p:nvSpPr>
          <p:cNvPr id="8" name="Text 6"/>
          <p:cNvSpPr txBox="1"/>
          <p:nvPr/>
        </p:nvSpPr>
        <p:spPr>
          <a:xfrm>
            <a:off x="832104" y="2697480"/>
            <a:ext cx="2743200" cy="237744"/>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mvc-virtual</a:t>
            </a:r>
            <a:endParaRPr lang="en-US" sz="1500" dirty="0"/>
          </a:p>
        </p:txBody>
      </p:sp>
      <p:sp>
        <p:nvSpPr>
          <p:cNvPr id="9" name="Text 7"/>
          <p:cNvSpPr txBox="1"/>
          <p:nvPr/>
        </p:nvSpPr>
        <p:spPr>
          <a:xfrm>
            <a:off x="3703320" y="2697480"/>
            <a:ext cx="7863840" cy="685800"/>
          </a:xfrm>
          <a:prstGeom prst="rect">
            <a:avLst/>
          </a:prstGeom>
          <a:noFill/>
          <a:ln/>
        </p:spPr>
        <p:txBody>
          <a:bodyPr wrap="square" lIns="0" tIns="0" rIns="0" bIns="0" rtlCol="0" anchor="ctr"/>
          <a:lstStyle/>
          <a:p>
            <a:pPr marL="0" indent="0">
              <a:buNone/>
            </a:pPr>
            <a:r>
              <a:rPr lang="en-US" sz="1400" dirty="0">
                <a:solidFill>
                  <a:srgbClr val="5C6B77"/>
                </a:solidFill>
                <a:latin typeface="Calibri" pitchFamily="34" charset="0"/>
                <a:ea typeface="Calibri" pitchFamily="34" charset="-122"/>
                <a:cs typeface="Calibri" pitchFamily="34" charset="-120"/>
              </a:rPr>
              <a:t>Candidate. Tomcat, Spring Data JDBC, JDBC driver, RestClient, virtual threads on.</a:t>
            </a:r>
            <a:endParaRPr lang="en-US" sz="1400" dirty="0"/>
          </a:p>
        </p:txBody>
      </p:sp>
      <p:sp>
        <p:nvSpPr>
          <p:cNvPr id="10" name="Shape 8"/>
          <p:cNvSpPr/>
          <p:nvPr/>
        </p:nvSpPr>
        <p:spPr>
          <a:xfrm>
            <a:off x="594360" y="3790188"/>
            <a:ext cx="146304" cy="146304"/>
          </a:xfrm>
          <a:prstGeom prst="ellipse">
            <a:avLst/>
          </a:prstGeom>
          <a:solidFill>
            <a:srgbClr val="D55E00"/>
          </a:solidFill>
          <a:ln/>
        </p:spPr>
        <p:txBody>
          <a:bodyPr/>
          <a:lstStyle/>
          <a:p>
            <a:endParaRPr lang="en-US"/>
          </a:p>
        </p:txBody>
      </p:sp>
      <p:sp>
        <p:nvSpPr>
          <p:cNvPr id="11" name="Text 9"/>
          <p:cNvSpPr txBox="1"/>
          <p:nvPr/>
        </p:nvSpPr>
        <p:spPr>
          <a:xfrm>
            <a:off x="832104" y="3749040"/>
            <a:ext cx="2743200" cy="237744"/>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mvc-platform</a:t>
            </a:r>
            <a:endParaRPr lang="en-US" sz="1500" dirty="0"/>
          </a:p>
        </p:txBody>
      </p:sp>
      <p:sp>
        <p:nvSpPr>
          <p:cNvPr id="12" name="Text 10"/>
          <p:cNvSpPr txBox="1"/>
          <p:nvPr/>
        </p:nvSpPr>
        <p:spPr>
          <a:xfrm>
            <a:off x="3703320" y="3749040"/>
            <a:ext cx="7863840" cy="685800"/>
          </a:xfrm>
          <a:prstGeom prst="rect">
            <a:avLst/>
          </a:prstGeom>
          <a:noFill/>
          <a:ln/>
        </p:spPr>
        <p:txBody>
          <a:bodyPr wrap="square" lIns="0" tIns="0" rIns="0" bIns="0" rtlCol="0" anchor="ctr"/>
          <a:lstStyle/>
          <a:p>
            <a:pPr marL="0" indent="0">
              <a:buNone/>
            </a:pPr>
            <a:r>
              <a:rPr lang="en-US" sz="1400" dirty="0">
                <a:solidFill>
                  <a:srgbClr val="5C6B77"/>
                </a:solidFill>
                <a:latin typeface="Calibri" pitchFamily="34" charset="0"/>
                <a:ea typeface="Calibri" pitchFamily="34" charset="-122"/>
                <a:cs typeface="Calibri" pitchFamily="34" charset="-120"/>
              </a:rPr>
              <a:t>Reference. Byte-identical to mvc-virtual; virtual threads off.</a:t>
            </a:r>
            <a:endParaRPr lang="en-US" sz="1400" dirty="0"/>
          </a:p>
        </p:txBody>
      </p:sp>
      <p:sp>
        <p:nvSpPr>
          <p:cNvPr id="13" name="Text 11"/>
          <p:cNvSpPr txBox="1"/>
          <p:nvPr/>
        </p:nvSpPr>
        <p:spPr>
          <a:xfrm>
            <a:off x="594360" y="4983480"/>
            <a:ext cx="10972800" cy="73152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mvc-virtual and mvc-platform share a byte-identical dependency list and controller, verified with diff. The entire difference between them is three lines of YAML, so any gap is the thread model and nothing else.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WORKLOAD DESIGN</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Five workloads, each isolating one constraint</a:t>
            </a:r>
            <a:endParaRPr lang="en-US" sz="2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972800" cy="2194560"/>
        </p:xfrm>
        <a:graphic>
          <a:graphicData uri="http://schemas.openxmlformats.org/drawingml/2006/table">
            <a:tbl>
              <a:tblPr/>
              <a:tblGrid>
                <a:gridCol w="15544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tblGrid>
              <a:tr h="365760">
                <a:tc>
                  <a:txBody>
                    <a:bodyPr/>
                    <a:lstStyle/>
                    <a:p>
                      <a:pPr marL="0" indent="0" algn="l">
                        <a:buNone/>
                      </a:pPr>
                      <a:r>
                        <a:rPr lang="en-US" sz="1300" b="1" dirty="0">
                          <a:solidFill>
                            <a:srgbClr val="1F2933"/>
                          </a:solidFill>
                          <a:latin typeface="Calibri" pitchFamily="34" charset="0"/>
                          <a:ea typeface="Calibri" pitchFamily="34" charset="-122"/>
                          <a:cs typeface="Calibri" pitchFamily="34" charset="-120"/>
                        </a:rPr>
                        <a:t>Endpoint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Conn. held</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Latency</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What constrains it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/nodb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Constant response</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nothing on this ladder</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One indexed query</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&lt; 1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~0.5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nothing on this ladder</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/db-heavy</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Aggregate + 20 rows, padded</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11.96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~13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pool, ~1,670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/db-slow</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Query + pg_sleep(0.1)</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101.8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~100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pool, ~197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One 200 ms upstream call</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threads, ~1,000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2"/>
          <p:cNvSpPr txBox="1"/>
          <p:nvPr/>
        </p:nvSpPr>
        <p:spPr>
          <a:xfrm>
            <a:off x="594360" y="3794760"/>
            <a:ext cx="10972800" cy="54864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/api is the decisive workload. It touches no database, so nothing the connection pool does can explain what happens there — each request simply holds a thread for 200 ms.</a:t>
            </a:r>
            <a:endParaRPr lang="en-US" sz="1400" dirty="0"/>
          </a:p>
        </p:txBody>
      </p:sp>
      <p:sp>
        <p:nvSpPr>
          <p:cNvPr id="6" name="Text 3"/>
          <p:cNvSpPr txBox="1"/>
          <p:nvPr/>
        </p:nvSpPr>
        <p:spPr>
          <a:xfrm>
            <a:off x="594360" y="4434840"/>
            <a:ext cx="10972800" cy="100584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Two knees moved from the figures the ladder was designed around. /db-heavy was planned at ~1,387 rps from a locally measured 14.4 ms hold; on AWS the hold is 11.96 ms, putting the knee at ~1,670 — which is where the data actually breaks. /db and /nodb never bind at any rate tested, so they serve as controls rather than measurements.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Sizing the experiment</a:t>
            </a:r>
            <a:endParaRPr lang="en-US" sz="2900" dirty="0"/>
          </a:p>
        </p:txBody>
      </p:sp>
      <p:sp>
        <p:nvSpPr>
          <p:cNvPr id="4" name="Text 2"/>
          <p:cNvSpPr txBox="1"/>
          <p:nvPr/>
        </p:nvSpPr>
        <p:spPr>
          <a:xfrm>
            <a:off x="594360" y="1417320"/>
            <a:ext cx="5303520" cy="292608"/>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Connection pool</a:t>
            </a:r>
            <a:endParaRPr lang="en-US" sz="1600" dirty="0"/>
          </a:p>
        </p:txBody>
      </p:sp>
      <p:sp>
        <p:nvSpPr>
          <p:cNvPr id="5" name="Text 3"/>
          <p:cNvSpPr txBox="1"/>
          <p:nvPr/>
        </p:nvSpPr>
        <p:spPr>
          <a:xfrm>
            <a:off x="594360" y="1801368"/>
            <a:ext cx="5303520" cy="1554480"/>
          </a:xfrm>
          <a:prstGeom prst="rect">
            <a:avLst/>
          </a:prstGeom>
          <a:noFill/>
          <a:ln/>
        </p:spPr>
        <p:txBody>
          <a:bodyPr wrap="square" lIns="0" tIns="0" rIns="0" bIns="0" rtlCol="0" anchor="ctr"/>
          <a:lstStyle/>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ceiling = pool size / hold time</a:t>
            </a:r>
            <a:endParaRPr lang="en-US" sz="1300" dirty="0"/>
          </a:p>
          <a:p>
            <a:pPr marL="0" indent="0">
              <a:lnSpc>
                <a:spcPct val="125000"/>
              </a:lnSpc>
              <a:buNone/>
            </a:pP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/db-heavy  20 / 0.012 s = 1,670 rps</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/db-slow   20 / 0.102 s =   197 rps</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/db        20 / 0.000x s = no limit</a:t>
            </a:r>
            <a:endParaRPr lang="en-US" sz="1300" dirty="0"/>
          </a:p>
        </p:txBody>
      </p:sp>
      <p:sp>
        <p:nvSpPr>
          <p:cNvPr id="6" name="Text 4"/>
          <p:cNvSpPr txBox="1"/>
          <p:nvPr/>
        </p:nvSpPr>
        <p:spPr>
          <a:xfrm>
            <a:off x="6263640" y="1417320"/>
            <a:ext cx="5303520" cy="292608"/>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Requests in flight</a:t>
            </a:r>
            <a:endParaRPr lang="en-US" sz="1600" dirty="0"/>
          </a:p>
        </p:txBody>
      </p:sp>
      <p:sp>
        <p:nvSpPr>
          <p:cNvPr id="7" name="Text 5"/>
          <p:cNvSpPr txBox="1"/>
          <p:nvPr/>
        </p:nvSpPr>
        <p:spPr>
          <a:xfrm>
            <a:off x="6263640" y="1801368"/>
            <a:ext cx="5303520" cy="1554480"/>
          </a:xfrm>
          <a:prstGeom prst="rect">
            <a:avLst/>
          </a:prstGeom>
          <a:noFill/>
          <a:ln/>
        </p:spPr>
        <p:txBody>
          <a:bodyPr wrap="square" lIns="0" tIns="0" rIns="0" bIns="0" rtlCol="0" anchor="ctr"/>
          <a:lstStyle/>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in flight = rate x latency</a:t>
            </a:r>
            <a:endParaRPr lang="en-US" sz="1300" dirty="0"/>
          </a:p>
          <a:p>
            <a:pPr marL="0" indent="0">
              <a:lnSpc>
                <a:spcPct val="125000"/>
              </a:lnSpc>
              <a:buNone/>
            </a:pP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/api    500 x 0.20 s =  100</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/api  1,000 x 0.20 s =  200</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/api  1,500 x 0.20 s =  300</a:t>
            </a:r>
            <a:endParaRPr lang="en-US" sz="1300" dirty="0"/>
          </a:p>
        </p:txBody>
      </p:sp>
      <p:sp>
        <p:nvSpPr>
          <p:cNvPr id="8" name="Text 6"/>
          <p:cNvSpPr txBox="1"/>
          <p:nvPr/>
        </p:nvSpPr>
        <p:spPr>
          <a:xfrm>
            <a:off x="594360" y="3566160"/>
            <a:ext cx="10972800" cy="54864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Tomcat's default is 200 threads. That is why /api at 1,000 rps is the edge and the database workloads are not — they never put enough requests in flight for the thread model to matter.</a:t>
            </a:r>
            <a:endParaRPr lang="en-US" sz="1400" dirty="0"/>
          </a:p>
        </p:txBody>
      </p:sp>
      <p:sp>
        <p:nvSpPr>
          <p:cNvPr id="9" name="Text 7"/>
          <p:cNvSpPr txBox="1"/>
          <p:nvPr/>
        </p:nvSpPr>
        <p:spPr>
          <a:xfrm>
            <a:off x="594360" y="4206240"/>
            <a:ext cx="10972800" cy="82296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Load was offered open-model at a fixed arrival rate, 60 s warmup discarded and 60 s measured. A closed-loop generator slows down when the system does, which hides the saturation behaviour being measured. One cell is one build at one workload at one rate: 3 × 5 × 4 = 60 cells, each run twice, 120 runs. The 15 runs where the generator could not sustain the rate are excluded.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Latency: the two candidates are almost identical</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972800" cy="2779776"/>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47472">
                <a:tc>
                  <a:txBody>
                    <a:bodyPr/>
                    <a:lstStyle/>
                    <a:p>
                      <a:pPr marL="0" indent="0" algn="l">
                        <a:buNone/>
                      </a:pPr>
                      <a:r>
                        <a:rPr lang="en-US" sz="1300" b="1" dirty="0">
                          <a:solidFill>
                            <a:srgbClr val="1F2933"/>
                          </a:solidFill>
                          <a:latin typeface="Calibri" pitchFamily="34" charset="0"/>
                          <a:ea typeface="Calibri" pitchFamily="34" charset="-122"/>
                          <a:cs typeface="Calibri" pitchFamily="34" charset="-120"/>
                        </a:rPr>
                        <a:t>Workload</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Requests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72B2"/>
                          </a:solidFill>
                          <a:latin typeface="Calibri" pitchFamily="34" charset="0"/>
                          <a:ea typeface="Calibri" pitchFamily="34" charset="-122"/>
                          <a:cs typeface="Calibri" pitchFamily="34" charset="-120"/>
                        </a:rPr>
                        <a:t>WebFlux</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9E73"/>
                          </a:solidFill>
                          <a:latin typeface="Calibri" pitchFamily="34" charset="0"/>
                          <a:ea typeface="Calibri" pitchFamily="34" charset="-122"/>
                          <a:cs typeface="Calibri" pitchFamily="34" charset="-120"/>
                        </a:rPr>
                        <a:t>Virtual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D55E00"/>
                          </a:solidFill>
                          <a:latin typeface="Calibri" pitchFamily="34" charset="0"/>
                          <a:ea typeface="Calibri" pitchFamily="34" charset="-122"/>
                          <a:cs typeface="Calibri" pitchFamily="34" charset="-120"/>
                        </a:rPr>
                        <a:t>Platform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/nodb @ 2,000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120,000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 @ 2,000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120,000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0.5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0.5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0.4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/db-heavy @ 1,000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60,000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12.7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12.4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12.4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500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30,000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200.9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200.9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200.9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1,000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60,000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200.6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200.6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668.0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1,500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90,000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200.5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200.6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1,000 ms · 100 %</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2,000 rps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120,000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200.5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200.6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709.7 ms · 100 %</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94360" y="4343400"/>
            <a:ext cx="10972800" cy="502920"/>
          </a:xfrm>
          <a:prstGeom prst="rect">
            <a:avLst/>
          </a:prstGeom>
          <a:noFill/>
          <a:ln/>
        </p:spPr>
        <p:txBody>
          <a:bodyPr wrap="square" lIns="0" tIns="0" rIns="0" bIns="0" rtlCol="0" anchor="ctr"/>
          <a:lstStyle/>
          <a:p>
            <a:pPr marL="0" indent="0">
              <a:buNone/>
            </a:pPr>
            <a:r>
              <a:rPr lang="en-US" sz="1300" i="1" dirty="0">
                <a:solidFill>
                  <a:srgbClr val="5C6B77"/>
                </a:solidFill>
                <a:latin typeface="Calibri" pitchFamily="34" charset="0"/>
                <a:ea typeface="Calibri" pitchFamily="34" charset="-122"/>
                <a:cs typeface="Calibri" pitchFamily="34" charset="-120"/>
              </a:rPr>
              <a:t>Median p50 of two repetitions. Requests is the measured 60-second window, offered rate x 60. Where the error rate is high the figure is floored by the 1,000 ms client timeout, so it is a lower bound on how bad it was — read the error rate first.</a:t>
            </a:r>
            <a:endParaRPr lang="en-US" sz="1300" dirty="0"/>
          </a:p>
        </p:txBody>
      </p:sp>
      <p:sp>
        <p:nvSpPr>
          <p:cNvPr id="6" name="Text 3"/>
          <p:cNvSpPr txBox="1"/>
          <p:nvPr/>
        </p:nvSpPr>
        <p:spPr>
          <a:xfrm>
            <a:off x="594360" y="4937760"/>
            <a:ext cx="10972800" cy="54864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WebFlux and virtual threads are within 0.1 ms of each other on every workload and every rate tested. Nothing in the latency data distinguishes them.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 · /API</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/API - The thread ceiling</a:t>
            </a:r>
            <a:endParaRPr lang="en-US" sz="2900" dirty="0"/>
          </a:p>
        </p:txBody>
      </p:sp>
      <p:graphicFrame>
        <p:nvGraphicFramePr>
          <p:cNvPr id="4" name="Chart 0"/>
          <p:cNvGraphicFramePr/>
          <p:nvPr/>
        </p:nvGraphicFramePr>
        <p:xfrm>
          <a:off x="594360" y="1417320"/>
          <a:ext cx="68580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818120" y="1463040"/>
            <a:ext cx="3749040" cy="548640"/>
          </a:xfrm>
          <a:prstGeom prst="rect">
            <a:avLst/>
          </a:prstGeom>
          <a:noFill/>
          <a:ln/>
        </p:spPr>
        <p:txBody>
          <a:bodyPr wrap="square" lIns="0" tIns="0" rIns="0" bIns="0" rtlCol="0" anchor="ctr"/>
          <a:lstStyle/>
          <a:p>
            <a:pPr marL="0" indent="0">
              <a:buNone/>
            </a:pPr>
            <a:r>
              <a:rPr lang="en-US" sz="1700" b="1" dirty="0">
                <a:solidFill>
                  <a:srgbClr val="1F2933"/>
                </a:solidFill>
                <a:latin typeface="Cambria" pitchFamily="34" charset="0"/>
                <a:ea typeface="Cambria" pitchFamily="34" charset="-122"/>
                <a:cs typeface="Cambria" pitchFamily="34" charset="-120"/>
              </a:rPr>
              <a:t>Platform threads: 0 % errors at 1,000 rps, 100 % at 1,500</a:t>
            </a:r>
            <a:endParaRPr lang="en-US" sz="1700" dirty="0"/>
          </a:p>
        </p:txBody>
      </p:sp>
      <p:sp>
        <p:nvSpPr>
          <p:cNvPr id="6" name="Text 3"/>
          <p:cNvSpPr txBox="1"/>
          <p:nvPr/>
        </p:nvSpPr>
        <p:spPr>
          <a:xfrm>
            <a:off x="7818120" y="2103120"/>
            <a:ext cx="3749040" cy="118872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At 1,000 rps the queue fills but does not overflow inside the one-second timeout — a p50 of 668 ms with every request still succeeding. At 1,500 it overflows and nothing gets through.</a:t>
            </a:r>
            <a:endParaRPr lang="en-US" sz="1300" dirty="0"/>
          </a:p>
        </p:txBody>
      </p:sp>
      <p:sp>
        <p:nvSpPr>
          <p:cNvPr id="7" name="Text 4"/>
          <p:cNvSpPr txBox="1"/>
          <p:nvPr/>
        </p:nvSpPr>
        <p:spPr>
          <a:xfrm>
            <a:off x="7818120" y="3383280"/>
            <a:ext cx="374904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The application was never slow</a:t>
            </a:r>
            <a:endParaRPr lang="en-US" sz="1400" dirty="0"/>
          </a:p>
        </p:txBody>
      </p:sp>
      <p:sp>
        <p:nvSpPr>
          <p:cNvPr id="8" name="Text 5"/>
          <p:cNvSpPr txBox="1"/>
          <p:nvPr/>
        </p:nvSpPr>
        <p:spPr>
          <a:xfrm>
            <a:off x="7818120" y="3703320"/>
            <a:ext cx="3749040" cy="164592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At 1,500 rps the server completed 127,256 requests at a 202 ms mean and logged zero exceptions, while k6 recorded 100 % failure and time-blocked-before-sending reached 834 ms at p95. The requests were sitting in the accept queue, never reaching the application. 200 threads at 200 ms each caps throughput at 1,000 rps; the surplus simply accumulated.</a:t>
            </a:r>
            <a:endParaRPr lang="en-US" sz="1300" dirty="0"/>
          </a:p>
        </p:txBody>
      </p:sp>
      <p:sp>
        <p:nvSpPr>
          <p:cNvPr id="9" name="Text 6"/>
          <p:cNvSpPr txBox="1"/>
          <p:nvPr/>
        </p:nvSpPr>
        <p:spPr>
          <a:xfrm>
            <a:off x="594360" y="5440680"/>
            <a:ext cx="6858000" cy="411480"/>
          </a:xfrm>
          <a:prstGeom prst="rect">
            <a:avLst/>
          </a:prstGeom>
          <a:noFill/>
          <a:ln/>
        </p:spPr>
        <p:txBody>
          <a:bodyPr wrap="square" lIns="0" tIns="0" rIns="0" bIns="0" rtlCol="0" anchor="ctr"/>
          <a:lstStyle/>
          <a:p>
            <a:pPr marL="0" indent="0">
              <a:buNone/>
            </a:pPr>
            <a:r>
              <a:rPr lang="en-US" sz="1200" i="1" dirty="0">
                <a:solidFill>
                  <a:srgbClr val="5C6B77"/>
                </a:solidFill>
                <a:latin typeface="Calibri" pitchFamily="34" charset="0"/>
                <a:ea typeface="Calibri" pitchFamily="34" charset="-122"/>
                <a:cs typeface="Calibri" pitchFamily="34" charset="-120"/>
              </a:rPr>
              <a:t>At 1,500 rps that is all 90,000 requests failing, not a tail — platform threads returned nothing usable for a full minute.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 · /DB-HEAVY</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/DB-HEAVY - On the realistic database workload, reactive is the slower option</a:t>
            </a:r>
            <a:endParaRPr lang="en-US" sz="2900" dirty="0"/>
          </a:p>
        </p:txBody>
      </p:sp>
      <p:graphicFrame>
        <p:nvGraphicFramePr>
          <p:cNvPr id="4" name="Chart 0"/>
          <p:cNvGraphicFramePr/>
          <p:nvPr/>
        </p:nvGraphicFramePr>
        <p:xfrm>
          <a:off x="594360" y="1417320"/>
          <a:ext cx="68580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818120" y="1463040"/>
            <a:ext cx="3749040" cy="292608"/>
          </a:xfrm>
          <a:prstGeom prst="rect">
            <a:avLst/>
          </a:prstGeom>
          <a:noFill/>
          <a:ln/>
        </p:spPr>
        <p:txBody>
          <a:bodyPr wrap="square" lIns="0" tIns="0" rIns="0" bIns="0" rtlCol="0" anchor="ctr"/>
          <a:lstStyle/>
          <a:p>
            <a:pPr marL="0" indent="0">
              <a:buNone/>
            </a:pPr>
            <a:r>
              <a:rPr lang="en-US" sz="1800" b="1" dirty="0">
                <a:solidFill>
                  <a:srgbClr val="1F2933"/>
                </a:solidFill>
                <a:latin typeface="Cambria" pitchFamily="34" charset="0"/>
                <a:ea typeface="Cambria" pitchFamily="34" charset="-122"/>
                <a:cs typeface="Cambria" pitchFamily="34" charset="-120"/>
              </a:rPr>
              <a:t>At 1,500 rps</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818120" y="1874520"/>
          <a:ext cx="3749040" cy="1243584"/>
        </p:xfrm>
        <a:graphic>
          <a:graphicData uri="http://schemas.openxmlformats.org/drawingml/2006/table">
            <a:tbl>
              <a:tblPr/>
              <a:tblGrid>
                <a:gridCol w="15087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10896">
                <a:tc>
                  <a:txBody>
                    <a:bodyPr/>
                    <a:lstStyle/>
                    <a:p>
                      <a:pPr marL="0" indent="0" algn="l">
                        <a:buNone/>
                      </a:pP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p95</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p99</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cores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WebFlux</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313.0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409.3</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0.613</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Virtual threads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19.7</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33.2</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0.233</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Platform threads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14.8</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28.7</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0.211</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txBox="1"/>
          <p:nvPr/>
        </p:nvSpPr>
        <p:spPr>
          <a:xfrm>
            <a:off x="7818120" y="3429000"/>
            <a:ext cx="3749040" cy="118872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Reactive is roughly 16× slower at p95 here and uses 2.6× the CPU for the same query. At 2,000 rps it fails 58–61 % of requests and the generator can no longer sustain the rate; virtual threads fail 92 % but keep serving.</a:t>
            </a:r>
            <a:endParaRPr lang="en-US" sz="1300" dirty="0"/>
          </a:p>
        </p:txBody>
      </p:sp>
      <p:sp>
        <p:nvSpPr>
          <p:cNvPr id="8" name="Text 4"/>
          <p:cNvSpPr txBox="1"/>
          <p:nvPr/>
        </p:nvSpPr>
        <p:spPr>
          <a:xfrm>
            <a:off x="7818120" y="4526280"/>
            <a:ext cx="3749040" cy="114300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In absolute terms at 1,500 rps: of 90,000 requests, 4,500 were slower than 313 ms on reactive and 900 were slower than 409 ms. On virtual threads the same cuts fall at 19.7 ms and 33.2 ms. Nothing failed on either — this is entirely tail latency.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 · /DB-HEAVY</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Why the tail jumps to 313 ms</a:t>
            </a:r>
            <a:endParaRPr lang="en-US" sz="2900" dirty="0"/>
          </a:p>
        </p:txBody>
      </p:sp>
      <p:sp>
        <p:nvSpPr>
          <p:cNvPr id="4" name="Text 2"/>
          <p:cNvSpPr txBox="1"/>
          <p:nvPr/>
        </p:nvSpPr>
        <p:spPr>
          <a:xfrm>
            <a:off x="594360" y="1417320"/>
            <a:ext cx="5303520" cy="292608"/>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The delay is inside the application</a:t>
            </a:r>
            <a:endParaRPr lang="en-US" sz="1600" dirty="0"/>
          </a:p>
        </p:txBody>
      </p:sp>
      <p:sp>
        <p:nvSpPr>
          <p:cNvPr id="5" name="Text 3"/>
          <p:cNvSpPr txBox="1"/>
          <p:nvPr/>
        </p:nvSpPr>
        <p:spPr>
          <a:xfrm>
            <a:off x="594360" y="1801368"/>
            <a:ext cx="5303520" cy="1554480"/>
          </a:xfrm>
          <a:prstGeom prst="rect">
            <a:avLst/>
          </a:prstGeom>
          <a:noFill/>
          <a:ln/>
        </p:spPr>
        <p:txBody>
          <a:bodyPr wrap="square" lIns="0" tIns="0" rIns="0" bIns="0" rtlCol="0" anchor="ctr"/>
          <a:lstStyle/>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the server's own timer, mean per request</a:t>
            </a:r>
            <a:endParaRPr lang="en-US" sz="1300" dirty="0"/>
          </a:p>
          <a:p>
            <a:pPr marL="0" indent="0">
              <a:lnSpc>
                <a:spcPct val="125000"/>
              </a:lnSpc>
              <a:buNone/>
            </a:pP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  500 rps    12.8 ms   = the query itself</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1,000 rps    16.4 ms</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1,500 rps    65.7 ms   5x the query</a:t>
            </a:r>
            <a:endParaRPr lang="en-US" sz="1300" dirty="0"/>
          </a:p>
        </p:txBody>
      </p:sp>
      <p:sp>
        <p:nvSpPr>
          <p:cNvPr id="6" name="Text 4"/>
          <p:cNvSpPr txBox="1"/>
          <p:nvPr/>
        </p:nvSpPr>
        <p:spPr>
          <a:xfrm>
            <a:off x="6263640" y="1417320"/>
            <a:ext cx="5303520" cy="292608"/>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What it is not</a:t>
            </a:r>
            <a:endParaRPr lang="en-US" sz="1600" dirty="0"/>
          </a:p>
        </p:txBody>
      </p:sp>
      <p:sp>
        <p:nvSpPr>
          <p:cNvPr id="7" name="Text 5"/>
          <p:cNvSpPr txBox="1"/>
          <p:nvPr/>
        </p:nvSpPr>
        <p:spPr>
          <a:xfrm>
            <a:off x="6263640" y="1801368"/>
            <a:ext cx="5303520" cy="1554480"/>
          </a:xfrm>
          <a:prstGeom prst="rect">
            <a:avLst/>
          </a:prstGeom>
          <a:noFill/>
          <a:ln/>
        </p:spPr>
        <p:txBody>
          <a:bodyPr wrap="square" lIns="0" tIns="0" rIns="0" bIns="0" rtlCol="0" anchor="ctr"/>
          <a:lstStyle/>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blocked p95       0.0 ms  not the network</a:t>
            </a:r>
            <a:endParaRPr lang="en-US" sz="1300" dirty="0"/>
          </a:p>
          <a:p>
            <a:pPr marL="0" indent="0">
              <a:lnSpc>
                <a:spcPct val="125000"/>
              </a:lnSpc>
              <a:buNone/>
            </a:pP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GC max pause       19 ms  not collection</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same DB, virtual  13.0 ms  not the database</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p50 unchanged     12.9 ms  not everything</a:t>
            </a:r>
            <a:endParaRPr lang="en-US" sz="1300" dirty="0"/>
          </a:p>
        </p:txBody>
      </p:sp>
      <p:sp>
        <p:nvSpPr>
          <p:cNvPr id="8" name="Text 6"/>
          <p:cNvSpPr txBox="1"/>
          <p:nvPr/>
        </p:nvSpPr>
        <p:spPr>
          <a:xfrm>
            <a:off x="594360" y="3566160"/>
            <a:ext cx="10972800" cy="54864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Every millisecond is in time-to-first-byte. Blocked, connecting and sending are all zero, so the request reached the server immediately. The server's own timer agrees: 65.7 ms on average to answer a 13 ms query. And it is bimodal - p50 stays at 12.9 ms while p95 reaches 313 ms, so most requests are untouched and about 4,500 of 90,000 wait roughly half a second.</a:t>
            </a:r>
            <a:endParaRPr lang="en-US" sz="1400" dirty="0"/>
          </a:p>
        </p:txBody>
      </p:sp>
      <p:sp>
        <p:nvSpPr>
          <p:cNvPr id="9" name="Text 7"/>
          <p:cNvSpPr txBox="1"/>
          <p:nvPr/>
        </p:nvSpPr>
        <p:spPr>
          <a:xfrm>
            <a:off x="594360" y="4206240"/>
            <a:ext cx="10972800" cy="822960"/>
          </a:xfrm>
          <a:prstGeom prst="rect">
            <a:avLst/>
          </a:prstGeom>
          <a:noFill/>
          <a:ln/>
        </p:spPr>
        <p:txBody>
          <a:bodyPr wrap="square" lIns="0" tIns="0" rIns="0" bIns="0" rtlCol="0" anchor="ctr"/>
          <a:lstStyle/>
          <a:p>
            <a:pPr marL="0" indent="0">
              <a:buNone/>
            </a:pPr>
            <a:r>
              <a:rPr lang="en-US" sz="1300" b="1" dirty="0">
                <a:solidFill>
                  <a:srgbClr val="5C6B77"/>
                </a:solidFill>
                <a:latin typeface="Calibri" pitchFamily="34" charset="0"/>
                <a:ea typeface="Calibri" pitchFamily="34" charset="-122"/>
                <a:cs typeface="Calibri" pitchFamily="34" charset="-120"/>
              </a:rPr>
              <a:t>Most likely cause</a:t>
            </a:r>
            <a:r>
              <a:rPr lang="en-US" sz="1300" dirty="0">
                <a:solidFill>
                  <a:srgbClr val="5C6B77"/>
                </a:solidFill>
                <a:latin typeface="Calibri" pitchFamily="34" charset="0"/>
                <a:ea typeface="Calibri" pitchFamily="34" charset="-122"/>
                <a:cs typeface="Calibri" pitchFamily="34" charset="-120"/>
              </a:rPr>
              <a:t>: queueing on Netty's event loops. </a:t>
            </a:r>
            <a:r>
              <a:rPr lang="en-US" sz="1300" b="1" dirty="0">
                <a:solidFill>
                  <a:srgbClr val="5C6B77"/>
                </a:solidFill>
                <a:latin typeface="Calibri" pitchFamily="34" charset="0"/>
                <a:ea typeface="Calibri" pitchFamily="34" charset="-122"/>
                <a:cs typeface="Calibri" pitchFamily="34" charset="-120"/>
              </a:rPr>
              <a:t>Reactor Netty runs a small fixed set of them - this app held 21 threads at every rate - shared between the HTTP server and the R2DBC driver</a:t>
            </a:r>
            <a:r>
              <a:rPr lang="en-US" sz="1300" dirty="0">
                <a:solidFill>
                  <a:srgbClr val="5C6B77"/>
                </a:solidFill>
                <a:latin typeface="Calibri" pitchFamily="34" charset="0"/>
                <a:ea typeface="Calibri" pitchFamily="34" charset="-122"/>
                <a:cs typeface="Calibri" pitchFamily="34" charset="-120"/>
              </a:rPr>
              <a:t>. Decoding twenty rows costs 11 us each, and connections are pinned to a loop, so a request can wait behind several others on the same one. Raising </a:t>
            </a:r>
            <a:r>
              <a:rPr lang="en-US" sz="1300" dirty="0" err="1">
                <a:solidFill>
                  <a:srgbClr val="5C6B77"/>
                </a:solidFill>
                <a:latin typeface="Calibri" pitchFamily="34" charset="0"/>
                <a:ea typeface="Calibri" pitchFamily="34" charset="-122"/>
                <a:cs typeface="Calibri" pitchFamily="34" charset="-120"/>
              </a:rPr>
              <a:t>reactor.netty.ioWorkerCount</a:t>
            </a:r>
            <a:r>
              <a:rPr lang="en-US" sz="1300" dirty="0">
                <a:solidFill>
                  <a:srgbClr val="5C6B77"/>
                </a:solidFill>
                <a:latin typeface="Calibri" pitchFamily="34" charset="0"/>
                <a:ea typeface="Calibri" pitchFamily="34" charset="-122"/>
                <a:cs typeface="Calibri" pitchFamily="34" charset="-120"/>
              </a:rPr>
              <a:t>, or profiling the loop threads, would confirm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 · /DB-HEAVY</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In summary: reactive waits well, decodes expensively</a:t>
            </a:r>
            <a:endParaRPr lang="en-US" sz="2900" dirty="0"/>
          </a:p>
        </p:txBody>
      </p:sp>
      <p:sp>
        <p:nvSpPr>
          <p:cNvPr id="4" name="Text 2"/>
          <p:cNvSpPr txBox="1"/>
          <p:nvPr/>
        </p:nvSpPr>
        <p:spPr>
          <a:xfrm>
            <a:off x="594360" y="1417320"/>
            <a:ext cx="5303520" cy="292608"/>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Event-loop CPU per ms of request life</a:t>
            </a:r>
            <a:endParaRPr lang="en-US" sz="1600" dirty="0"/>
          </a:p>
        </p:txBody>
      </p:sp>
      <p:sp>
        <p:nvSpPr>
          <p:cNvPr id="5" name="Text 3"/>
          <p:cNvSpPr txBox="1"/>
          <p:nvPr/>
        </p:nvSpPr>
        <p:spPr>
          <a:xfrm>
            <a:off x="594360" y="1801368"/>
            <a:ext cx="5303520" cy="1554480"/>
          </a:xfrm>
          <a:prstGeom prst="rect">
            <a:avLst/>
          </a:prstGeom>
          <a:noFill/>
          <a:ln/>
        </p:spPr>
        <p:txBody>
          <a:bodyPr wrap="square" lIns="0" tIns="0" rIns="0" bIns="0" rtlCol="0" anchor="ctr"/>
          <a:lstStyle/>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workload            density     p95</a:t>
            </a:r>
            <a:endParaRPr lang="en-US" sz="1300" dirty="0"/>
          </a:p>
          <a:p>
            <a:pPr marL="0" indent="0">
              <a:lnSpc>
                <a:spcPct val="125000"/>
              </a:lnSpc>
              <a:buNone/>
            </a:pP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/api      @ 2,000    0.09 %   201 ms</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/db-heavy @ 1,500    3.17 %   313 ms</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35x denser, 35x the loop pressure</a:t>
            </a:r>
            <a:endParaRPr lang="en-US" sz="1300" dirty="0"/>
          </a:p>
        </p:txBody>
      </p:sp>
      <p:sp>
        <p:nvSpPr>
          <p:cNvPr id="6" name="Text 4"/>
          <p:cNvSpPr txBox="1"/>
          <p:nvPr/>
        </p:nvSpPr>
        <p:spPr>
          <a:xfrm>
            <a:off x="6263640" y="1417320"/>
            <a:ext cx="5303520" cy="292608"/>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Established by the data</a:t>
            </a:r>
            <a:endParaRPr lang="en-US" sz="1600" dirty="0"/>
          </a:p>
        </p:txBody>
      </p:sp>
      <p:sp>
        <p:nvSpPr>
          <p:cNvPr id="7" name="Text 5"/>
          <p:cNvSpPr txBox="1"/>
          <p:nvPr/>
        </p:nvSpPr>
        <p:spPr>
          <a:xfrm>
            <a:off x="6263640" y="1801368"/>
            <a:ext cx="5303520" cy="1554480"/>
          </a:xfrm>
          <a:prstGeom prst="rect">
            <a:avLst/>
          </a:prstGeom>
          <a:noFill/>
          <a:ln/>
        </p:spPr>
        <p:txBody>
          <a:bodyPr wrap="square" lIns="0" tIns="0" rIns="0" bIns="0" rtlCol="0" anchor="ctr"/>
          <a:lstStyle/>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cost is per row     11.2 vs 2.1 us</a:t>
            </a:r>
            <a:endParaRPr lang="en-US" sz="1300" dirty="0"/>
          </a:p>
          <a:p>
            <a:pPr marL="0" indent="0">
              <a:lnSpc>
                <a:spcPct val="125000"/>
              </a:lnSpc>
              <a:buNone/>
            </a:pP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delay is in the app  65.7 ms server mean</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not the DB, not GC, not the network</a:t>
            </a:r>
            <a:endParaRPr lang="en-US" sz="1300" dirty="0"/>
          </a:p>
          <a:p>
            <a:pPr marL="0" indent="0">
              <a:lnSpc>
                <a:spcPct val="125000"/>
              </a:lnSpc>
              <a:buNone/>
            </a:pPr>
            <a:r>
              <a:rPr lang="en-US" sz="1300" dirty="0">
                <a:solidFill>
                  <a:srgbClr val="1F2933"/>
                </a:solidFill>
                <a:latin typeface="Courier New" pitchFamily="34" charset="0"/>
                <a:ea typeface="Courier New" pitchFamily="34" charset="-122"/>
                <a:cs typeface="Courier New" pitchFamily="34" charset="-120"/>
              </a:rPr>
              <a:t>21 threads at every rate, no elasticity</a:t>
            </a:r>
            <a:endParaRPr lang="en-US" sz="1300" dirty="0"/>
          </a:p>
        </p:txBody>
      </p:sp>
      <p:sp>
        <p:nvSpPr>
          <p:cNvPr id="8" name="Text 6"/>
          <p:cNvSpPr txBox="1"/>
          <p:nvPr/>
        </p:nvSpPr>
        <p:spPr>
          <a:xfrm>
            <a:off x="594360" y="3566160"/>
            <a:ext cx="10972800" cy="54864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a:t>
            </a:r>
            <a:r>
              <a:rPr lang="en-US" sz="1400" b="1" dirty="0">
                <a:solidFill>
                  <a:srgbClr val="1F2933"/>
                </a:solidFill>
                <a:latin typeface="Calibri" pitchFamily="34" charset="0"/>
                <a:ea typeface="Calibri" pitchFamily="34" charset="-122"/>
                <a:cs typeface="Calibri" pitchFamily="34" charset="-120"/>
              </a:rPr>
              <a:t>api spends 200 ms waiting on a socket</a:t>
            </a:r>
            <a:r>
              <a:rPr lang="en-US" sz="1400" dirty="0">
                <a:solidFill>
                  <a:srgbClr val="1F2933"/>
                </a:solidFill>
                <a:latin typeface="Calibri" pitchFamily="34" charset="0"/>
                <a:ea typeface="Calibri" pitchFamily="34" charset="-122"/>
                <a:cs typeface="Calibri" pitchFamily="34" charset="-120"/>
              </a:rPr>
              <a:t>, and </a:t>
            </a:r>
            <a:r>
              <a:rPr lang="en-US" sz="1400" b="1" dirty="0">
                <a:solidFill>
                  <a:srgbClr val="1F2933"/>
                </a:solidFill>
                <a:latin typeface="Calibri" pitchFamily="34" charset="0"/>
                <a:ea typeface="Calibri" pitchFamily="34" charset="-122"/>
                <a:cs typeface="Calibri" pitchFamily="34" charset="-120"/>
              </a:rPr>
              <a:t>waiting costs an event loop nothing </a:t>
            </a:r>
            <a:r>
              <a:rPr lang="en-US" sz="1400" dirty="0">
                <a:solidFill>
                  <a:srgbClr val="1F2933"/>
                </a:solidFill>
                <a:latin typeface="Calibri" pitchFamily="34" charset="0"/>
                <a:ea typeface="Calibri" pitchFamily="34" charset="-122"/>
                <a:cs typeface="Calibri" pitchFamily="34" charset="-120"/>
              </a:rPr>
              <a:t>- that is the model working exactly as designed, which is why reactive holds p50 at 200.5 ms from 500 all the way to 2,000 rps. /db-heavy hands the same loop a 408 us burst of row decoding and JSON serialisation per request, and a loop runs one task to completion before starting the next. Reactive is excellent where the work is waiting, and exposed where the work is CPU on the response path.</a:t>
            </a:r>
            <a:endParaRPr lang="en-US" sz="1400" dirty="0"/>
          </a:p>
        </p:txBody>
      </p:sp>
      <p:sp>
        <p:nvSpPr>
          <p:cNvPr id="9" name="Text 7"/>
          <p:cNvSpPr txBox="1"/>
          <p:nvPr/>
        </p:nvSpPr>
        <p:spPr>
          <a:xfrm>
            <a:off x="594360" y="4206240"/>
            <a:ext cx="10972800" cy="82296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Not established: the size of the stall. Queueing arithmetic across four loops at roughly 15 % utilisation predicts sub-millisecond waits, not 313 ms, so something further is at work - most likely prefetch and backpressure inside r2dbc-postgresql, which this dataset cannot see.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 · /DB-HEAVY @ 2,000 RPS</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Where each stack chokes, and how differently</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972800" cy="1536192"/>
        </p:xfrm>
        <a:graphic>
          <a:graphicData uri="http://schemas.openxmlformats.org/drawingml/2006/table">
            <a:tbl>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384048">
                <a:tc>
                  <a:txBody>
                    <a:bodyPr/>
                    <a:lstStyle/>
                    <a:p>
                      <a:pPr marL="0" indent="0" algn="l">
                        <a:buNone/>
                      </a:pP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Errors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Client p50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Server mean</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Pool waiting</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F2933"/>
                          </a:solidFill>
                          <a:latin typeface="Calibri" pitchFamily="34" charset="0"/>
                          <a:ea typeface="Calibri" pitchFamily="34" charset="-122"/>
                          <a:cs typeface="Calibri" pitchFamily="34" charset="-120"/>
                        </a:rPr>
                        <a:t>CPU</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webflux-r2dbc</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61 %</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937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555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mvc-virtual</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92 %</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999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4,952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5,889</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mvc-platform</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1,000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124 ms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175</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594360" y="3154680"/>
            <a:ext cx="10972800" cy="310896"/>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The server-mean column is the one to read twice</a:t>
            </a:r>
            <a:endParaRPr lang="en-US" sz="1600" dirty="0"/>
          </a:p>
        </p:txBody>
      </p:sp>
      <p:sp>
        <p:nvSpPr>
          <p:cNvPr id="6" name="Text 3"/>
          <p:cNvSpPr txBox="1"/>
          <p:nvPr/>
        </p:nvSpPr>
        <p:spPr>
          <a:xfrm>
            <a:off x="594360" y="3520440"/>
            <a:ext cx="10972800" cy="868680"/>
          </a:xfrm>
          <a:prstGeom prst="rect">
            <a:avLst/>
          </a:prstGeom>
          <a:noFill/>
          <a:ln/>
        </p:spPr>
        <p:txBody>
          <a:bodyPr wrap="square" lIns="0" tIns="0" rIns="0" bIns="0" rtlCol="0" anchor="ctr"/>
          <a:lstStyle/>
          <a:p>
            <a:pPr marL="0" indent="0">
              <a:buNone/>
            </a:pPr>
            <a:r>
              <a:rPr lang="en-US" sz="1400" dirty="0">
                <a:solidFill>
                  <a:srgbClr val="5C6B77"/>
                </a:solidFill>
                <a:latin typeface="Calibri" pitchFamily="34" charset="0"/>
                <a:ea typeface="Calibri" pitchFamily="34" charset="-122"/>
                <a:cs typeface="Calibri" pitchFamily="34" charset="-120"/>
              </a:rPr>
              <a:t>Platform threads had the fastest application of the three — 124 ms per request — precisely because its 200-thread limit refused work it could not finish. Virtual threads removed that limit, admitted everything, queued 5,889 requests on a 20-connection pool and spent 4.9 seconds per request on work the client had already abandoned at one second.</a:t>
            </a:r>
            <a:endParaRPr lang="en-US" sz="1400" dirty="0"/>
          </a:p>
        </p:txBody>
      </p:sp>
      <p:sp>
        <p:nvSpPr>
          <p:cNvPr id="7" name="Shape 4"/>
          <p:cNvSpPr/>
          <p:nvPr/>
        </p:nvSpPr>
        <p:spPr>
          <a:xfrm>
            <a:off x="594360" y="4526280"/>
            <a:ext cx="3429000" cy="1600200"/>
          </a:xfrm>
          <a:prstGeom prst="roundRect">
            <a:avLst>
              <a:gd name="adj" fmla="val 4571"/>
            </a:avLst>
          </a:prstGeom>
          <a:solidFill>
            <a:srgbClr val="F2F5F7"/>
          </a:solidFill>
          <a:ln w="12700">
            <a:solidFill>
              <a:srgbClr val="F2F5F7"/>
            </a:solidFill>
            <a:prstDash val="solid"/>
          </a:ln>
        </p:spPr>
        <p:txBody>
          <a:bodyPr/>
          <a:lstStyle/>
          <a:p>
            <a:endParaRPr lang="en-US"/>
          </a:p>
        </p:txBody>
      </p:sp>
      <p:sp>
        <p:nvSpPr>
          <p:cNvPr id="8" name="Shape 5"/>
          <p:cNvSpPr/>
          <p:nvPr/>
        </p:nvSpPr>
        <p:spPr>
          <a:xfrm>
            <a:off x="868680" y="4750308"/>
            <a:ext cx="146304" cy="146304"/>
          </a:xfrm>
          <a:prstGeom prst="ellipse">
            <a:avLst/>
          </a:prstGeom>
          <a:solidFill>
            <a:srgbClr val="D55E00"/>
          </a:solidFill>
          <a:ln/>
        </p:spPr>
        <p:txBody>
          <a:bodyPr/>
          <a:lstStyle/>
          <a:p>
            <a:endParaRPr lang="en-US"/>
          </a:p>
        </p:txBody>
      </p:sp>
      <p:sp>
        <p:nvSpPr>
          <p:cNvPr id="9" name="Text 6"/>
          <p:cNvSpPr txBox="1"/>
          <p:nvPr/>
        </p:nvSpPr>
        <p:spPr>
          <a:xfrm>
            <a:off x="1106424" y="4709160"/>
            <a:ext cx="283464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Platform threads</a:t>
            </a:r>
            <a:endParaRPr lang="en-US" sz="1300" dirty="0"/>
          </a:p>
        </p:txBody>
      </p:sp>
      <p:sp>
        <p:nvSpPr>
          <p:cNvPr id="4" name="Text 7"/>
          <p:cNvSpPr txBox="1"/>
          <p:nvPr/>
        </p:nvSpPr>
        <p:spPr>
          <a:xfrm>
            <a:off x="1106424" y="4965192"/>
            <a:ext cx="2697480" cy="256032"/>
          </a:xfrm>
          <a:prstGeom prst="rect">
            <a:avLst/>
          </a:prstGeom>
          <a:noFill/>
          <a:ln/>
        </p:spPr>
        <p:txBody>
          <a:bodyPr wrap="square" lIns="0" tIns="0" rIns="0" bIns="0" rtlCol="0" anchor="ctr"/>
          <a:lstStyle/>
          <a:p>
            <a:pPr marL="0" indent="0">
              <a:buNone/>
            </a:pPr>
            <a:r>
              <a:rPr lang="en-US" sz="1200" b="1" dirty="0">
                <a:solidFill>
                  <a:srgbClr val="D55E00"/>
                </a:solidFill>
                <a:latin typeface="Calibri" pitchFamily="34" charset="0"/>
                <a:ea typeface="Calibri" pitchFamily="34" charset="-122"/>
                <a:cs typeface="Calibri" pitchFamily="34" charset="-120"/>
              </a:rPr>
              <a:t>Bounded admission</a:t>
            </a:r>
            <a:endParaRPr lang="en-US" sz="1200" dirty="0"/>
          </a:p>
        </p:txBody>
      </p:sp>
      <p:sp>
        <p:nvSpPr>
          <p:cNvPr id="11" name="Text 8"/>
          <p:cNvSpPr txBox="1"/>
          <p:nvPr/>
        </p:nvSpPr>
        <p:spPr>
          <a:xfrm>
            <a:off x="868680" y="5239512"/>
            <a:ext cx="2880360" cy="822960"/>
          </a:xfrm>
          <a:prstGeom prst="rect">
            <a:avLst/>
          </a:prstGeom>
          <a:noFill/>
          <a:ln/>
        </p:spPr>
        <p:txBody>
          <a:bodyPr wrap="square" lIns="0" tIns="0" rIns="0" bIns="0" rtlCol="0" anchor="ctr"/>
          <a:lstStyle/>
          <a:p>
            <a:pPr marL="0" indent="0">
              <a:buNone/>
            </a:pPr>
            <a:r>
              <a:rPr lang="en-US" sz="1100" dirty="0">
                <a:solidFill>
                  <a:srgbClr val="5C6B77"/>
                </a:solidFill>
                <a:latin typeface="Calibri" pitchFamily="34" charset="0"/>
                <a:ea typeface="Calibri" pitchFamily="34" charset="-122"/>
                <a:cs typeface="Calibri" pitchFamily="34" charset="-120"/>
              </a:rPr>
              <a:t>200 threads cap what enters. The queue forms outside the application, which stays healthy. Clients time out at the door.</a:t>
            </a:r>
            <a:endParaRPr lang="en-US" sz="1100" dirty="0"/>
          </a:p>
        </p:txBody>
      </p:sp>
      <p:sp>
        <p:nvSpPr>
          <p:cNvPr id="12" name="Shape 9"/>
          <p:cNvSpPr/>
          <p:nvPr/>
        </p:nvSpPr>
        <p:spPr>
          <a:xfrm>
            <a:off x="4361688" y="4526280"/>
            <a:ext cx="3429000" cy="1600200"/>
          </a:xfrm>
          <a:prstGeom prst="roundRect">
            <a:avLst>
              <a:gd name="adj" fmla="val 4571"/>
            </a:avLst>
          </a:prstGeom>
          <a:solidFill>
            <a:srgbClr val="F2F5F7"/>
          </a:solidFill>
          <a:ln w="12700">
            <a:solidFill>
              <a:srgbClr val="F2F5F7"/>
            </a:solidFill>
            <a:prstDash val="solid"/>
          </a:ln>
        </p:spPr>
        <p:txBody>
          <a:bodyPr/>
          <a:lstStyle/>
          <a:p>
            <a:endParaRPr lang="en-US"/>
          </a:p>
        </p:txBody>
      </p:sp>
      <p:sp>
        <p:nvSpPr>
          <p:cNvPr id="13" name="Shape 10"/>
          <p:cNvSpPr/>
          <p:nvPr/>
        </p:nvSpPr>
        <p:spPr>
          <a:xfrm>
            <a:off x="4636008" y="4750308"/>
            <a:ext cx="146304" cy="146304"/>
          </a:xfrm>
          <a:prstGeom prst="ellipse">
            <a:avLst/>
          </a:prstGeom>
          <a:solidFill>
            <a:srgbClr val="009E73"/>
          </a:solidFill>
          <a:ln/>
        </p:spPr>
        <p:txBody>
          <a:bodyPr/>
          <a:lstStyle/>
          <a:p>
            <a:endParaRPr lang="en-US"/>
          </a:p>
        </p:txBody>
      </p:sp>
      <p:sp>
        <p:nvSpPr>
          <p:cNvPr id="14" name="Text 11"/>
          <p:cNvSpPr txBox="1"/>
          <p:nvPr/>
        </p:nvSpPr>
        <p:spPr>
          <a:xfrm>
            <a:off x="4873752" y="4709160"/>
            <a:ext cx="283464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Virtual threads</a:t>
            </a:r>
            <a:endParaRPr lang="en-US" sz="1300" dirty="0"/>
          </a:p>
        </p:txBody>
      </p:sp>
      <p:sp>
        <p:nvSpPr>
          <p:cNvPr id="15" name="Text 12"/>
          <p:cNvSpPr txBox="1"/>
          <p:nvPr/>
        </p:nvSpPr>
        <p:spPr>
          <a:xfrm>
            <a:off x="4873752" y="4965192"/>
            <a:ext cx="2697480" cy="256032"/>
          </a:xfrm>
          <a:prstGeom prst="rect">
            <a:avLst/>
          </a:prstGeom>
          <a:noFill/>
          <a:ln/>
        </p:spPr>
        <p:txBody>
          <a:bodyPr wrap="square" lIns="0" tIns="0" rIns="0" bIns="0" rtlCol="0" anchor="ctr"/>
          <a:lstStyle/>
          <a:p>
            <a:pPr marL="0" indent="0">
              <a:buNone/>
            </a:pPr>
            <a:r>
              <a:rPr lang="en-US" sz="1200" b="1" dirty="0">
                <a:solidFill>
                  <a:srgbClr val="009E73"/>
                </a:solidFill>
                <a:latin typeface="Calibri" pitchFamily="34" charset="0"/>
                <a:ea typeface="Calibri" pitchFamily="34" charset="-122"/>
                <a:cs typeface="Calibri" pitchFamily="34" charset="-120"/>
              </a:rPr>
              <a:t>Unbounded admission</a:t>
            </a:r>
            <a:endParaRPr lang="en-US" sz="1200" dirty="0"/>
          </a:p>
        </p:txBody>
      </p:sp>
      <p:sp>
        <p:nvSpPr>
          <p:cNvPr id="16" name="Text 13"/>
          <p:cNvSpPr txBox="1"/>
          <p:nvPr/>
        </p:nvSpPr>
        <p:spPr>
          <a:xfrm>
            <a:off x="4636008" y="5239512"/>
            <a:ext cx="2880360" cy="822960"/>
          </a:xfrm>
          <a:prstGeom prst="rect">
            <a:avLst/>
          </a:prstGeom>
          <a:noFill/>
          <a:ln/>
        </p:spPr>
        <p:txBody>
          <a:bodyPr wrap="square" lIns="0" tIns="0" rIns="0" bIns="0" rtlCol="0" anchor="ctr"/>
          <a:lstStyle/>
          <a:p>
            <a:pPr marL="0" indent="0">
              <a:buNone/>
            </a:pPr>
            <a:r>
              <a:rPr lang="en-US" sz="1100" dirty="0">
                <a:solidFill>
                  <a:srgbClr val="5C6B77"/>
                </a:solidFill>
                <a:latin typeface="Calibri" pitchFamily="34" charset="0"/>
                <a:ea typeface="Calibri" pitchFamily="34" charset="-122"/>
                <a:cs typeface="Calibri" pitchFamily="34" charset="-120"/>
              </a:rPr>
              <a:t>Nothing caps entry. Requests queue on the connection pool instead, and the application does seconds of work nobody is waiting for.</a:t>
            </a:r>
            <a:endParaRPr lang="en-US" sz="1100" dirty="0"/>
          </a:p>
        </p:txBody>
      </p:sp>
      <p:sp>
        <p:nvSpPr>
          <p:cNvPr id="17" name="Shape 14"/>
          <p:cNvSpPr/>
          <p:nvPr/>
        </p:nvSpPr>
        <p:spPr>
          <a:xfrm>
            <a:off x="8129016" y="4526280"/>
            <a:ext cx="3429000" cy="1600200"/>
          </a:xfrm>
          <a:prstGeom prst="roundRect">
            <a:avLst>
              <a:gd name="adj" fmla="val 4571"/>
            </a:avLst>
          </a:prstGeom>
          <a:solidFill>
            <a:srgbClr val="F2F5F7"/>
          </a:solidFill>
          <a:ln w="12700">
            <a:solidFill>
              <a:srgbClr val="F2F5F7"/>
            </a:solidFill>
            <a:prstDash val="solid"/>
          </a:ln>
        </p:spPr>
        <p:txBody>
          <a:bodyPr/>
          <a:lstStyle/>
          <a:p>
            <a:endParaRPr lang="en-US"/>
          </a:p>
        </p:txBody>
      </p:sp>
      <p:sp>
        <p:nvSpPr>
          <p:cNvPr id="18" name="Shape 15"/>
          <p:cNvSpPr/>
          <p:nvPr/>
        </p:nvSpPr>
        <p:spPr>
          <a:xfrm>
            <a:off x="8403336" y="4750308"/>
            <a:ext cx="146304" cy="146304"/>
          </a:xfrm>
          <a:prstGeom prst="ellipse">
            <a:avLst/>
          </a:prstGeom>
          <a:solidFill>
            <a:srgbClr val="0072B2"/>
          </a:solidFill>
          <a:ln/>
        </p:spPr>
        <p:txBody>
          <a:bodyPr/>
          <a:lstStyle/>
          <a:p>
            <a:endParaRPr lang="en-US"/>
          </a:p>
        </p:txBody>
      </p:sp>
      <p:sp>
        <p:nvSpPr>
          <p:cNvPr id="19" name="Text 16"/>
          <p:cNvSpPr txBox="1"/>
          <p:nvPr/>
        </p:nvSpPr>
        <p:spPr>
          <a:xfrm>
            <a:off x="8641080" y="4709160"/>
            <a:ext cx="283464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WebFlux</a:t>
            </a:r>
            <a:endParaRPr lang="en-US" sz="1300" dirty="0"/>
          </a:p>
        </p:txBody>
      </p:sp>
      <p:sp>
        <p:nvSpPr>
          <p:cNvPr id="20" name="Text 17"/>
          <p:cNvSpPr txBox="1"/>
          <p:nvPr/>
        </p:nvSpPr>
        <p:spPr>
          <a:xfrm>
            <a:off x="8641080" y="4965192"/>
            <a:ext cx="2697480" cy="256032"/>
          </a:xfrm>
          <a:prstGeom prst="rect">
            <a:avLst/>
          </a:prstGeom>
          <a:noFill/>
          <a:ln/>
        </p:spPr>
        <p:txBody>
          <a:bodyPr wrap="square" lIns="0" tIns="0" rIns="0" bIns="0" rtlCol="0" anchor="ctr"/>
          <a:lstStyle/>
          <a:p>
            <a:pPr marL="0" indent="0">
              <a:buNone/>
            </a:pPr>
            <a:r>
              <a:rPr lang="en-US" sz="1200" b="1" dirty="0">
                <a:solidFill>
                  <a:srgbClr val="0072B2"/>
                </a:solidFill>
                <a:latin typeface="Calibri" pitchFamily="34" charset="0"/>
                <a:ea typeface="Calibri" pitchFamily="34" charset="-122"/>
                <a:cs typeface="Calibri" pitchFamily="34" charset="-120"/>
              </a:rPr>
              <a:t>Cancellation propagates</a:t>
            </a:r>
            <a:endParaRPr lang="en-US" sz="1200" dirty="0"/>
          </a:p>
        </p:txBody>
      </p:sp>
      <p:sp>
        <p:nvSpPr>
          <p:cNvPr id="21" name="Text 18"/>
          <p:cNvSpPr txBox="1"/>
          <p:nvPr/>
        </p:nvSpPr>
        <p:spPr>
          <a:xfrm>
            <a:off x="8403336" y="5239512"/>
            <a:ext cx="2880360" cy="822960"/>
          </a:xfrm>
          <a:prstGeom prst="rect">
            <a:avLst/>
          </a:prstGeom>
          <a:noFill/>
          <a:ln/>
        </p:spPr>
        <p:txBody>
          <a:bodyPr wrap="square" lIns="0" tIns="0" rIns="0" bIns="0" rtlCol="0" anchor="ctr"/>
          <a:lstStyle/>
          <a:p>
            <a:pPr marL="0" indent="0">
              <a:buNone/>
            </a:pPr>
            <a:r>
              <a:rPr lang="en-US" sz="1100" dirty="0">
                <a:solidFill>
                  <a:srgbClr val="5C6B77"/>
                </a:solidFill>
                <a:latin typeface="Calibri" pitchFamily="34" charset="0"/>
                <a:ea typeface="Calibri" pitchFamily="34" charset="-122"/>
                <a:cs typeface="Calibri" pitchFamily="34" charset="-120"/>
              </a:rPr>
              <a:t>When the client gives up, the reactive chain aborts the in-flight work. Least wasted effort of the three.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 · ERROR CAUSES</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What actually failed, and why</a:t>
            </a:r>
            <a:endParaRPr lang="en-US" sz="2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972800" cy="2779776"/>
        </p:xfrm>
        <a:graphic>
          <a:graphicData uri="http://schemas.openxmlformats.org/drawingml/2006/table">
            <a:tbl>
              <a:tblPr/>
              <a:tblGrid>
                <a:gridCol w="24688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310896">
                <a:tc>
                  <a:txBody>
                    <a:bodyPr/>
                    <a:lstStyle/>
                    <a:p>
                      <a:pPr marL="0" indent="0" algn="l">
                        <a:buNone/>
                      </a:pPr>
                      <a:r>
                        <a:rPr lang="en-US" sz="1200" b="1" dirty="0">
                          <a:solidFill>
                            <a:srgbClr val="1F2933"/>
                          </a:solidFill>
                          <a:latin typeface="Calibri" pitchFamily="34" charset="0"/>
                          <a:ea typeface="Calibri" pitchFamily="34" charset="-122"/>
                          <a:cs typeface="Calibri" pitchFamily="34" charset="-120"/>
                        </a:rPr>
                        <a:t>Workload · rate</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Variant</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Errors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Server 5xx</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Waiting on pool</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Cause</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/api @ 1,500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mvc-platform</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100 %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client timeout, accept queue</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/db-heavy @ 2,000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mvc-platform</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100 %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client timeout, accept queue</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/db-heavy @ 2,000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webflux-r2dbc</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61 %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client timeout, server too slow</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/db-heavy @ 2,000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mvc-virtual</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92 %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17,399</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5,889</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CannotGetJdbcConnectionException</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/db-slow @ 1,500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mvc-platform</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100 %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179</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client timeout, accept queue</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/db-slow @ 1,500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webflux-r2dbc</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100 %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165,159</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AbortedException</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/db-slow @ 1,500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mvc-virtual</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99 %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80,170</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7,826</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CannotGetJdbcConnectionException</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94360" y="4114800"/>
            <a:ext cx="10972800" cy="310896"/>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Three signatures, consistent across every failing cell</a:t>
            </a:r>
            <a:endParaRPr lang="en-US" sz="1600" dirty="0"/>
          </a:p>
        </p:txBody>
      </p:sp>
      <p:sp>
        <p:nvSpPr>
          <p:cNvPr id="6" name="Shape 3"/>
          <p:cNvSpPr/>
          <p:nvPr/>
        </p:nvSpPr>
        <p:spPr>
          <a:xfrm>
            <a:off x="594360" y="4567428"/>
            <a:ext cx="146304" cy="146304"/>
          </a:xfrm>
          <a:prstGeom prst="ellipse">
            <a:avLst/>
          </a:prstGeom>
          <a:solidFill>
            <a:srgbClr val="D55E00"/>
          </a:solidFill>
          <a:ln/>
        </p:spPr>
        <p:txBody>
          <a:bodyPr/>
          <a:lstStyle/>
          <a:p>
            <a:endParaRPr lang="en-US"/>
          </a:p>
        </p:txBody>
      </p:sp>
      <p:sp>
        <p:nvSpPr>
          <p:cNvPr id="7" name="Text 4"/>
          <p:cNvSpPr txBox="1"/>
          <p:nvPr/>
        </p:nvSpPr>
        <p:spPr>
          <a:xfrm>
            <a:off x="832104" y="4526280"/>
            <a:ext cx="237744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mvc-platform</a:t>
            </a:r>
            <a:endParaRPr lang="en-US" sz="1300" dirty="0"/>
          </a:p>
        </p:txBody>
      </p:sp>
      <p:sp>
        <p:nvSpPr>
          <p:cNvPr id="8" name="Text 5"/>
          <p:cNvSpPr txBox="1"/>
          <p:nvPr/>
        </p:nvSpPr>
        <p:spPr>
          <a:xfrm>
            <a:off x="3246120" y="4526280"/>
            <a:ext cx="8321040" cy="621792"/>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No server-side exception anywhere, ever. The application never saw the request. Pool waiting stays bounded at 0–179 because only 200 threads can be in flight.</a:t>
            </a:r>
            <a:endParaRPr lang="en-US" sz="1200" dirty="0"/>
          </a:p>
        </p:txBody>
      </p:sp>
      <p:sp>
        <p:nvSpPr>
          <p:cNvPr id="9" name="Shape 6"/>
          <p:cNvSpPr/>
          <p:nvPr/>
        </p:nvSpPr>
        <p:spPr>
          <a:xfrm>
            <a:off x="594360" y="5262372"/>
            <a:ext cx="146304" cy="146304"/>
          </a:xfrm>
          <a:prstGeom prst="ellipse">
            <a:avLst/>
          </a:prstGeom>
          <a:solidFill>
            <a:srgbClr val="009E73"/>
          </a:solidFill>
          <a:ln/>
        </p:spPr>
        <p:txBody>
          <a:bodyPr/>
          <a:lstStyle/>
          <a:p>
            <a:endParaRPr lang="en-US"/>
          </a:p>
        </p:txBody>
      </p:sp>
      <p:sp>
        <p:nvSpPr>
          <p:cNvPr id="10" name="Text 7"/>
          <p:cNvSpPr txBox="1"/>
          <p:nvPr/>
        </p:nvSpPr>
        <p:spPr>
          <a:xfrm>
            <a:off x="832104" y="5221224"/>
            <a:ext cx="237744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mvc-virtual</a:t>
            </a:r>
            <a:endParaRPr lang="en-US" sz="1300" dirty="0"/>
          </a:p>
        </p:txBody>
      </p:sp>
      <p:sp>
        <p:nvSpPr>
          <p:cNvPr id="4" name="Text 8"/>
          <p:cNvSpPr txBox="1"/>
          <p:nvPr/>
        </p:nvSpPr>
        <p:spPr>
          <a:xfrm>
            <a:off x="3246120" y="5221224"/>
            <a:ext cx="8321040" cy="621792"/>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CannotGetJdbcConnectionException — pool acquire timing out. Pool waiting reaches 4,294–7,826: admission is unbounded, so the queue moves to the database.</a:t>
            </a:r>
            <a:endParaRPr lang="en-US" sz="1200" dirty="0"/>
          </a:p>
        </p:txBody>
      </p:sp>
      <p:sp>
        <p:nvSpPr>
          <p:cNvPr id="12" name="Shape 9"/>
          <p:cNvSpPr/>
          <p:nvPr/>
        </p:nvSpPr>
        <p:spPr>
          <a:xfrm>
            <a:off x="594360" y="5957316"/>
            <a:ext cx="146304" cy="146304"/>
          </a:xfrm>
          <a:prstGeom prst="ellipse">
            <a:avLst/>
          </a:prstGeom>
          <a:solidFill>
            <a:srgbClr val="0072B2"/>
          </a:solidFill>
          <a:ln/>
        </p:spPr>
        <p:txBody>
          <a:bodyPr/>
          <a:lstStyle/>
          <a:p>
            <a:endParaRPr lang="en-US"/>
          </a:p>
        </p:txBody>
      </p:sp>
      <p:sp>
        <p:nvSpPr>
          <p:cNvPr id="13" name="Text 10"/>
          <p:cNvSpPr txBox="1"/>
          <p:nvPr/>
        </p:nvSpPr>
        <p:spPr>
          <a:xfrm>
            <a:off x="832104" y="5916168"/>
            <a:ext cx="237744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webflux-r2dbc</a:t>
            </a:r>
            <a:endParaRPr lang="en-US" sz="1300" dirty="0"/>
          </a:p>
        </p:txBody>
      </p:sp>
      <p:sp>
        <p:nvSpPr>
          <p:cNvPr id="14" name="Text 11"/>
          <p:cNvSpPr txBox="1"/>
          <p:nvPr/>
        </p:nvSpPr>
        <p:spPr>
          <a:xfrm>
            <a:off x="3246120" y="5916168"/>
            <a:ext cx="8321040" cy="621792"/>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AbortedException and TransientDataAccessResourceException — the client disconnected and the reactive chain cancelled the work. Pool waiting is always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Resource use, and how it was measured</a:t>
            </a:r>
            <a:endParaRPr lang="en-US" sz="2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149840" cy="2432304"/>
        </p:xfrm>
        <a:graphic>
          <a:graphicData uri="http://schemas.openxmlformats.org/drawingml/2006/table">
            <a:tbl>
              <a:tblPr/>
              <a:tblGrid>
                <a:gridCol w="30175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47472">
                <a:tc>
                  <a:txBody>
                    <a:bodyPr/>
                    <a:lstStyle/>
                    <a:p>
                      <a:pPr marL="0" indent="0" algn="l">
                        <a:buNone/>
                      </a:pPr>
                      <a:r>
                        <a:rPr lang="en-US" sz="1300" b="1" dirty="0">
                          <a:solidFill>
                            <a:srgbClr val="1F2933"/>
                          </a:solidFill>
                          <a:latin typeface="Calibri" pitchFamily="34" charset="0"/>
                          <a:ea typeface="Calibri" pitchFamily="34" charset="-122"/>
                          <a:cs typeface="Calibri" pitchFamily="34" charset="-120"/>
                        </a:rPr>
                        <a:t>Workload · rate</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72B2"/>
                          </a:solidFill>
                          <a:latin typeface="Calibri" pitchFamily="34" charset="0"/>
                          <a:ea typeface="Calibri" pitchFamily="34" charset="-122"/>
                          <a:cs typeface="Calibri" pitchFamily="34" charset="-120"/>
                        </a:rPr>
                        <a:t>WebFlux</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9E73"/>
                          </a:solidFill>
                          <a:latin typeface="Calibri" pitchFamily="34" charset="0"/>
                          <a:ea typeface="Calibri" pitchFamily="34" charset="-122"/>
                          <a:cs typeface="Calibri" pitchFamily="34" charset="-120"/>
                        </a:rPr>
                        <a:t>Virtual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D55E00"/>
                          </a:solidFill>
                          <a:latin typeface="Calibri" pitchFamily="34" charset="0"/>
                          <a:ea typeface="Calibri" pitchFamily="34" charset="-122"/>
                          <a:cs typeface="Calibri" pitchFamily="34" charset="-120"/>
                        </a:rPr>
                        <a:t>Platform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/nodb @ 2,000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0.119</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0.123</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0.123</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 @ 2,000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0.352</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0.287</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0.157</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/db-heavy @ 1,500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0.613</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0.233</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0.211</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1,000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0.256</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0.301</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0.241</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2,000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0.356</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0.560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0.326</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Live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 – 79</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215 – 288</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94360" y="4023360"/>
            <a:ext cx="10972800" cy="365760"/>
          </a:xfrm>
          <a:prstGeom prst="rect">
            <a:avLst/>
          </a:prstGeom>
          <a:noFill/>
          <a:ln/>
        </p:spPr>
        <p:txBody>
          <a:bodyPr wrap="square" lIns="0" tIns="0" rIns="0" bIns="0" rtlCol="0" anchor="ctr"/>
          <a:lstStyle/>
          <a:p>
            <a:pPr marL="0" indent="0">
              <a:buNone/>
            </a:pPr>
            <a:r>
              <a:rPr lang="en-US" sz="1300" i="1" dirty="0">
                <a:solidFill>
                  <a:srgbClr val="5C6B77"/>
                </a:solidFill>
                <a:latin typeface="Calibri" pitchFamily="34" charset="0"/>
                <a:ea typeface="Calibri" pitchFamily="34" charset="-122"/>
                <a:cs typeface="Calibri" pitchFamily="34" charset="-120"/>
              </a:rPr>
              <a:t>CPU cores consumed per wall-second, median of two repetitions. The machine has 2, so 0.560 is 28 % of the box.</a:t>
            </a:r>
            <a:endParaRPr lang="en-US" sz="1300" dirty="0"/>
          </a:p>
        </p:txBody>
      </p:sp>
      <p:sp>
        <p:nvSpPr>
          <p:cNvPr id="6" name="Text 3"/>
          <p:cNvSpPr txBox="1"/>
          <p:nvPr/>
        </p:nvSpPr>
        <p:spPr>
          <a:xfrm>
            <a:off x="594360" y="4434840"/>
            <a:ext cx="10972800" cy="82296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Reactive is cheapest where there is no database and most expensive where there is. On /api it uses 36 % less CPU than virtual threads; on /db-heavy it uses 2.6× more. Thread count is not a proxy for cost — platform threads run ten times as many as reactive while using less CPU than either.</a:t>
            </a:r>
            <a:endParaRPr lang="en-US" sz="1400" dirty="0"/>
          </a:p>
        </p:txBody>
      </p:sp>
      <p:sp>
        <p:nvSpPr>
          <p:cNvPr id="7" name="Text 4"/>
          <p:cNvSpPr txBox="1"/>
          <p:nvPr/>
        </p:nvSpPr>
        <p:spPr>
          <a:xfrm>
            <a:off x="594360" y="5303520"/>
            <a:ext cx="10972800" cy="64008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Memory is the next slide. The heap gauge could not separate the builds — one sample per cell, 52–972 MB, because it sawtooths with GC — but allocation is a counter, and it separates them cleanly.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MEMORY</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Footprint is flat. Allocation is not.</a:t>
            </a:r>
            <a:endParaRPr lang="en-US" sz="2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149840" cy="2432304"/>
        </p:xfrm>
        <a:graphic>
          <a:graphicData uri="http://schemas.openxmlformats.org/drawingml/2006/table">
            <a:tbl>
              <a:tblPr/>
              <a:tblGrid>
                <a:gridCol w="30175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47472">
                <a:tc>
                  <a:txBody>
                    <a:bodyPr/>
                    <a:lstStyle/>
                    <a:p>
                      <a:pPr marL="0" indent="0" algn="l">
                        <a:buNone/>
                      </a:pPr>
                      <a:r>
                        <a:rPr lang="en-US" sz="1300" b="1" dirty="0">
                          <a:solidFill>
                            <a:srgbClr val="1F2933"/>
                          </a:solidFill>
                          <a:latin typeface="Calibri" pitchFamily="34" charset="0"/>
                          <a:ea typeface="Calibri" pitchFamily="34" charset="-122"/>
                          <a:cs typeface="Calibri" pitchFamily="34" charset="-120"/>
                        </a:rPr>
                        <a:t>Allocation per 1,000 requests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72B2"/>
                          </a:solidFill>
                          <a:latin typeface="Calibri" pitchFamily="34" charset="0"/>
                          <a:ea typeface="Calibri" pitchFamily="34" charset="-122"/>
                          <a:cs typeface="Calibri" pitchFamily="34" charset="-120"/>
                        </a:rPr>
                        <a:t>WebFlux</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9E73"/>
                          </a:solidFill>
                          <a:latin typeface="Calibri" pitchFamily="34" charset="0"/>
                          <a:ea typeface="Calibri" pitchFamily="34" charset="-122"/>
                          <a:cs typeface="Calibri" pitchFamily="34" charset="-120"/>
                        </a:rPr>
                        <a:t>Virtual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D55E00"/>
                          </a:solidFill>
                          <a:latin typeface="Calibri" pitchFamily="34" charset="0"/>
                          <a:ea typeface="Calibri" pitchFamily="34" charset="-122"/>
                          <a:cs typeface="Calibri" pitchFamily="34" charset="-120"/>
                        </a:rPr>
                        <a:t>Platform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/nodb @ 2,000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20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13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14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 @ 2,000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62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26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23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/db-heavy @ 1,500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254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66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64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1,000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38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58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56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/api @ 2,000</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37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59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Live set at overload</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801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187 MB</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94360" y="4023360"/>
            <a:ext cx="10972800" cy="365760"/>
          </a:xfrm>
          <a:prstGeom prst="rect">
            <a:avLst/>
          </a:prstGeom>
          <a:noFill/>
          <a:ln/>
        </p:spPr>
        <p:txBody>
          <a:bodyPr wrap="square" lIns="0" tIns="0" rIns="0" bIns="0" rtlCol="0" anchor="ctr"/>
          <a:lstStyle/>
          <a:p>
            <a:pPr marL="0" indent="0">
              <a:buNone/>
            </a:pPr>
            <a:r>
              <a:rPr lang="en-US" sz="1300" i="1" dirty="0">
                <a:solidFill>
                  <a:srgbClr val="5C6B77"/>
                </a:solidFill>
                <a:latin typeface="Calibri" pitchFamily="34" charset="0"/>
                <a:ea typeface="Calibri" pitchFamily="34" charset="-122"/>
                <a:cs typeface="Calibri" pitchFamily="34" charset="-120"/>
              </a:rPr>
              <a:t>Megabytes allocated per 1,000 requests, median of two repetitions. A counter, so exact — unlike the heap gauge, which sawtooths.</a:t>
            </a:r>
            <a:endParaRPr lang="en-US" sz="1300" dirty="0"/>
          </a:p>
        </p:txBody>
      </p:sp>
      <p:sp>
        <p:nvSpPr>
          <p:cNvPr id="6" name="Text 3"/>
          <p:cNvSpPr txBox="1"/>
          <p:nvPr/>
        </p:nvSpPr>
        <p:spPr>
          <a:xfrm>
            <a:off x="594360" y="4434840"/>
            <a:ext cx="10972800" cy="82296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The two builds differ in kind, not degree. Reactive allocates 3.8× more per request on /db-heavy — the same per-row decode cost that shows up as CPU — but that garbage dies young and G1 clears it in 0.43 s a minute. On /api the order reverses: reactive allocates 1.6× less, because waiting on a socket allocates nothing.</a:t>
            </a:r>
            <a:endParaRPr lang="en-US" sz="1400" dirty="0"/>
          </a:p>
        </p:txBody>
      </p:sp>
      <p:sp>
        <p:nvSpPr>
          <p:cNvPr id="7" name="Text 4"/>
          <p:cNvSpPr txBox="1"/>
          <p:nvPr/>
        </p:nvSpPr>
        <p:spPr>
          <a:xfrm>
            <a:off x="594360" y="5303520"/>
            <a:ext cx="10972800" cy="64008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Live set is what is still reachable after an old-gen collection — not heap used, which also counts garbage. At /db-heavy 2,000 rps virtual threads retained 801 MB of 1,024 with 5,889 requests queued on 20 connections: 139 KB held per queued request, and 31.8 s paused in 124 s. Platform threads queue 175, capped by Tomcat — 187 MB. Virtual figure is one valid rep; WebFlux sustained neither.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RESULTS · A CAVEAT</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/db-slow measures the database, not the stacks</a:t>
            </a:r>
            <a:endParaRPr lang="en-US" sz="2900" dirty="0"/>
          </a:p>
        </p:txBody>
      </p:sp>
      <p:sp>
        <p:nvSpPr>
          <p:cNvPr id="4" name="Text 2"/>
          <p:cNvSpPr txBox="1"/>
          <p:nvPr/>
        </p:nvSpPr>
        <p:spPr>
          <a:xfrm>
            <a:off x="594360" y="1417320"/>
            <a:ext cx="10972800" cy="320040"/>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Every cell failed, in all three builds, at every rate. That is by construction, not a finding.</a:t>
            </a:r>
            <a:endParaRPr lang="en-US" sz="1500" dirty="0"/>
          </a:p>
        </p:txBody>
      </p:sp>
      <p:sp>
        <p:nvSpPr>
          <p:cNvPr id="5" name="Text 3"/>
          <p:cNvSpPr txBox="1"/>
          <p:nvPr/>
        </p:nvSpPr>
        <p:spPr>
          <a:xfrm>
            <a:off x="594360" y="1874520"/>
            <a:ext cx="6675120" cy="914400"/>
          </a:xfrm>
          <a:prstGeom prst="rect">
            <a:avLst/>
          </a:prstGeom>
          <a:noFill/>
          <a:ln/>
        </p:spPr>
        <p:txBody>
          <a:bodyPr wrap="square" lIns="0" tIns="0" rIns="0" bIns="0" rtlCol="0" anchor="ctr"/>
          <a:lstStyle/>
          <a:p>
            <a:pPr marL="0" indent="0">
              <a:lnSpc>
                <a:spcPct val="125000"/>
              </a:lnSpc>
              <a:buNone/>
            </a:pPr>
            <a:r>
              <a:rPr lang="en-US" sz="1200" dirty="0">
                <a:solidFill>
                  <a:srgbClr val="1F2933"/>
                </a:solidFill>
                <a:latin typeface="Courier New" pitchFamily="34" charset="0"/>
                <a:ea typeface="Courier New" pitchFamily="34" charset="-122"/>
                <a:cs typeface="Courier New" pitchFamily="34" charset="-120"/>
              </a:rPr>
              <a:t>pg_sleep(0.1)  -&gt;  100 ms connection hold</a:t>
            </a:r>
            <a:endParaRPr lang="en-US" sz="1200" dirty="0"/>
          </a:p>
          <a:p>
            <a:pPr marL="0" indent="0">
              <a:lnSpc>
                <a:spcPct val="125000"/>
              </a:lnSpc>
              <a:buNone/>
            </a:pPr>
            <a:r>
              <a:rPr lang="en-US" sz="1200" dirty="0">
                <a:solidFill>
                  <a:srgbClr val="1F2933"/>
                </a:solidFill>
                <a:latin typeface="Courier New" pitchFamily="34" charset="0"/>
                <a:ea typeface="Courier New" pitchFamily="34" charset="-122"/>
                <a:cs typeface="Courier New" pitchFamily="34" charset="-120"/>
              </a:rPr>
              <a:t>ceiling = 20 connections / 0.1 s = 200 rps</a:t>
            </a:r>
            <a:endParaRPr lang="en-US" sz="1200" dirty="0"/>
          </a:p>
          <a:p>
            <a:pPr marL="0" indent="0">
              <a:lnSpc>
                <a:spcPct val="125000"/>
              </a:lnSpc>
              <a:buNone/>
            </a:pPr>
            <a:r>
              <a:rPr lang="en-US" sz="1200" dirty="0">
                <a:solidFill>
                  <a:srgbClr val="1F2933"/>
                </a:solidFill>
                <a:latin typeface="Courier New" pitchFamily="34" charset="0"/>
                <a:ea typeface="Courier New" pitchFamily="34" charset="-122"/>
                <a:cs typeface="Courier New" pitchFamily="34" charset="-120"/>
              </a:rPr>
              <a:t>lowest rate on the ladder        = 500 rps    (2.5x over)</a:t>
            </a:r>
            <a:endParaRPr lang="en-US" sz="1200" dirty="0"/>
          </a:p>
        </p:txBody>
      </p:sp>
      <p:sp>
        <p:nvSpPr>
          <p:cNvPr id="6" name="Text 4"/>
          <p:cNvSpPr txBox="1"/>
          <p:nvPr/>
        </p:nvSpPr>
        <p:spPr>
          <a:xfrm>
            <a:off x="594360" y="2926080"/>
            <a:ext cx="6675120" cy="274320"/>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And the ceiling falls as you push harder</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3246120"/>
          <a:ext cx="6400800" cy="1463040"/>
        </p:xfrm>
        <a:graphic>
          <a:graphicData uri="http://schemas.openxmlformats.org/drawingml/2006/table">
            <a:tbl>
              <a:tblPr/>
              <a:tblGrid>
                <a:gridCol w="15544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92608">
                <a:tc>
                  <a:txBody>
                    <a:bodyPr/>
                    <a:lstStyle/>
                    <a:p>
                      <a:pPr marL="0" indent="0" algn="l">
                        <a:buNone/>
                      </a:pPr>
                      <a:r>
                        <a:rPr lang="en-US" sz="1200" b="1" dirty="0">
                          <a:solidFill>
                            <a:srgbClr val="1F2933"/>
                          </a:solidFill>
                          <a:latin typeface="Calibri" pitchFamily="34" charset="0"/>
                          <a:ea typeface="Calibri" pitchFamily="34" charset="-122"/>
                          <a:cs typeface="Calibri" pitchFamily="34" charset="-120"/>
                        </a:rPr>
                        <a:t>Offered</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Measured hold</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Effective ceiling</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F2933"/>
                          </a:solidFill>
                          <a:latin typeface="Calibri" pitchFamily="34" charset="0"/>
                          <a:ea typeface="Calibri" pitchFamily="34" charset="-122"/>
                          <a:cs typeface="Calibri" pitchFamily="34" charset="-120"/>
                        </a:rPr>
                        <a:t>Errors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500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101.8 ms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197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99.1 %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1,000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127.6 ms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157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99.0 %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1,500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151.4 ms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132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98.9 %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200" dirty="0">
                          <a:solidFill>
                            <a:srgbClr val="1F2933"/>
                          </a:solidFill>
                          <a:latin typeface="Calibri" pitchFamily="34" charset="0"/>
                          <a:ea typeface="Calibri" pitchFamily="34" charset="-122"/>
                          <a:cs typeface="Calibri" pitchFamily="34" charset="-120"/>
                        </a:rPr>
                        <a:t>2,000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160.5 ms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125 rps</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200" dirty="0">
                          <a:solidFill>
                            <a:srgbClr val="5C6B77"/>
                          </a:solidFill>
                          <a:latin typeface="Calibri" pitchFamily="34" charset="0"/>
                          <a:ea typeface="Calibri" pitchFamily="34" charset="-122"/>
                          <a:cs typeface="Calibri" pitchFamily="34" charset="-120"/>
                        </a:rPr>
                        <a:t>99.4 %</a:t>
                      </a:r>
                      <a:endParaRPr lang="en-US" sz="12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5"/>
          <p:cNvSpPr txBox="1"/>
          <p:nvPr/>
        </p:nvSpPr>
        <p:spPr>
          <a:xfrm>
            <a:off x="594360" y="4846320"/>
            <a:ext cx="6675120" cy="64008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pg_sleep is a fixed 100 ms, so the extra 60 ms is contention inside PostgreSQL once far more sessions are queued against it than the pool can serve. Overload makes the bottleneck narrower.</a:t>
            </a:r>
            <a:endParaRPr lang="en-US" sz="1300" dirty="0"/>
          </a:p>
        </p:txBody>
      </p:sp>
      <p:sp>
        <p:nvSpPr>
          <p:cNvPr id="9" name="Text 6"/>
          <p:cNvSpPr txBox="1"/>
          <p:nvPr/>
        </p:nvSpPr>
        <p:spPr>
          <a:xfrm>
            <a:off x="7635240" y="1417320"/>
            <a:ext cx="3931920" cy="292608"/>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What this tells us, and what it does not</a:t>
            </a:r>
            <a:endParaRPr lang="en-US" sz="1500" dirty="0"/>
          </a:p>
        </p:txBody>
      </p:sp>
      <p:sp>
        <p:nvSpPr>
          <p:cNvPr id="10" name="Text 7"/>
          <p:cNvSpPr txBox="1"/>
          <p:nvPr/>
        </p:nvSpPr>
        <p:spPr>
          <a:xfrm>
            <a:off x="7635240" y="1801368"/>
            <a:ext cx="3931920" cy="1463040"/>
          </a:xfrm>
          <a:prstGeom prst="rect">
            <a:avLst/>
          </a:prstGeom>
          <a:noFill/>
          <a:ln/>
        </p:spPr>
        <p:txBody>
          <a:bodyPr wrap="square" lIns="0" tIns="0" rIns="0" bIns="0" rtlCol="0" anchor="ctr"/>
          <a:lstStyle/>
          <a:p>
            <a:pPr marL="0" indent="0">
              <a:buNone/>
            </a:pPr>
            <a:r>
              <a:rPr lang="en-US" sz="1300" dirty="0">
                <a:solidFill>
                  <a:srgbClr val="5C6B77"/>
                </a:solidFill>
                <a:latin typeface="Calibri" pitchFamily="34" charset="0"/>
                <a:ea typeface="Calibri" pitchFamily="34" charset="-122"/>
                <a:cs typeface="Calibri" pitchFamily="34" charset="-120"/>
              </a:rPr>
              <a:t>These numbers are a property of the pool size, the query duration, the database's CPU and its configuration — not of the three stacks. Change any one of those and the whole picture moves. A larger pool, a faster query or a bigger database would each shift the ceiling somewhere else entirely.</a:t>
            </a:r>
            <a:endParaRPr lang="en-US" sz="1300" dirty="0"/>
          </a:p>
        </p:txBody>
      </p:sp>
      <p:sp>
        <p:nvSpPr>
          <p:cNvPr id="11" name="Text 8"/>
          <p:cNvSpPr txBox="1"/>
          <p:nvPr/>
        </p:nvSpPr>
        <p:spPr>
          <a:xfrm>
            <a:off x="7635240" y="3291840"/>
            <a:ext cx="3931920" cy="50292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What it does show is how each stack behaves once it is past capacity, and they differ completely:</a:t>
            </a:r>
            <a:endParaRPr lang="en-US" sz="1300" dirty="0"/>
          </a:p>
        </p:txBody>
      </p:sp>
      <p:sp>
        <p:nvSpPr>
          <p:cNvPr id="12" name="Shape 9"/>
          <p:cNvSpPr/>
          <p:nvPr/>
        </p:nvSpPr>
        <p:spPr>
          <a:xfrm>
            <a:off x="7635240" y="3927348"/>
            <a:ext cx="146304" cy="146304"/>
          </a:xfrm>
          <a:prstGeom prst="ellipse">
            <a:avLst/>
          </a:prstGeom>
          <a:solidFill>
            <a:srgbClr val="D55E00"/>
          </a:solidFill>
          <a:ln/>
        </p:spPr>
        <p:txBody>
          <a:bodyPr/>
          <a:lstStyle/>
          <a:p>
            <a:endParaRPr lang="en-US"/>
          </a:p>
        </p:txBody>
      </p:sp>
      <p:sp>
        <p:nvSpPr>
          <p:cNvPr id="7" name="Text 10"/>
          <p:cNvSpPr txBox="1"/>
          <p:nvPr/>
        </p:nvSpPr>
        <p:spPr>
          <a:xfrm>
            <a:off x="7872984" y="3886200"/>
            <a:ext cx="365760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Platform threads</a:t>
            </a:r>
            <a:endParaRPr lang="en-US" sz="1300" dirty="0"/>
          </a:p>
        </p:txBody>
      </p:sp>
      <p:sp>
        <p:nvSpPr>
          <p:cNvPr id="14" name="Text 11"/>
          <p:cNvSpPr txBox="1"/>
          <p:nvPr/>
        </p:nvSpPr>
        <p:spPr>
          <a:xfrm>
            <a:off x="7872984" y="4123944"/>
            <a:ext cx="3657600" cy="438912"/>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refuse work at the accept queue, 0.056 cores — almost idle</a:t>
            </a:r>
            <a:endParaRPr lang="en-US" sz="1200" dirty="0"/>
          </a:p>
        </p:txBody>
      </p:sp>
      <p:sp>
        <p:nvSpPr>
          <p:cNvPr id="15" name="Shape 12"/>
          <p:cNvSpPr/>
          <p:nvPr/>
        </p:nvSpPr>
        <p:spPr>
          <a:xfrm>
            <a:off x="7635240" y="4613148"/>
            <a:ext cx="146304" cy="146304"/>
          </a:xfrm>
          <a:prstGeom prst="ellipse">
            <a:avLst/>
          </a:prstGeom>
          <a:solidFill>
            <a:srgbClr val="009E73"/>
          </a:solidFill>
          <a:ln/>
        </p:spPr>
        <p:txBody>
          <a:bodyPr/>
          <a:lstStyle/>
          <a:p>
            <a:endParaRPr lang="en-US"/>
          </a:p>
        </p:txBody>
      </p:sp>
      <p:sp>
        <p:nvSpPr>
          <p:cNvPr id="16" name="Text 13"/>
          <p:cNvSpPr txBox="1"/>
          <p:nvPr/>
        </p:nvSpPr>
        <p:spPr>
          <a:xfrm>
            <a:off x="7872984" y="4572000"/>
            <a:ext cx="365760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Virtual threads</a:t>
            </a:r>
            <a:endParaRPr lang="en-US" sz="1300" dirty="0"/>
          </a:p>
        </p:txBody>
      </p:sp>
      <p:sp>
        <p:nvSpPr>
          <p:cNvPr id="17" name="Text 14"/>
          <p:cNvSpPr txBox="1"/>
          <p:nvPr/>
        </p:nvSpPr>
        <p:spPr>
          <a:xfrm>
            <a:off x="7872984" y="4809744"/>
            <a:ext cx="3657600" cy="438912"/>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admit it, exhaust the pool, 511k connection failures at 1.18 cores</a:t>
            </a:r>
            <a:endParaRPr lang="en-US" sz="1200" dirty="0"/>
          </a:p>
        </p:txBody>
      </p:sp>
      <p:sp>
        <p:nvSpPr>
          <p:cNvPr id="18" name="Shape 15"/>
          <p:cNvSpPr/>
          <p:nvPr/>
        </p:nvSpPr>
        <p:spPr>
          <a:xfrm>
            <a:off x="7635240" y="5298948"/>
            <a:ext cx="146304" cy="146304"/>
          </a:xfrm>
          <a:prstGeom prst="ellipse">
            <a:avLst/>
          </a:prstGeom>
          <a:solidFill>
            <a:srgbClr val="0072B2"/>
          </a:solidFill>
          <a:ln/>
        </p:spPr>
        <p:txBody>
          <a:bodyPr/>
          <a:lstStyle/>
          <a:p>
            <a:endParaRPr lang="en-US"/>
          </a:p>
        </p:txBody>
      </p:sp>
      <p:sp>
        <p:nvSpPr>
          <p:cNvPr id="19" name="Text 16"/>
          <p:cNvSpPr txBox="1"/>
          <p:nvPr/>
        </p:nvSpPr>
        <p:spPr>
          <a:xfrm>
            <a:off x="7872984" y="5257800"/>
            <a:ext cx="3657600" cy="237744"/>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WebFlux</a:t>
            </a:r>
            <a:endParaRPr lang="en-US" sz="1300" dirty="0"/>
          </a:p>
        </p:txBody>
      </p:sp>
      <p:sp>
        <p:nvSpPr>
          <p:cNvPr id="20" name="Text 17"/>
          <p:cNvSpPr txBox="1"/>
          <p:nvPr/>
        </p:nvSpPr>
        <p:spPr>
          <a:xfrm>
            <a:off x="7872984" y="5495544"/>
            <a:ext cx="3657600" cy="438912"/>
          </a:xfrm>
          <a:prstGeom prst="rect">
            <a:avLst/>
          </a:prstGeom>
          <a:noFill/>
          <a:ln/>
        </p:spPr>
        <p:txBody>
          <a:bodyPr wrap="square" lIns="0" tIns="0" rIns="0" bIns="0" rtlCol="0" anchor="ctr"/>
          <a:lstStyle/>
          <a:p>
            <a:pPr marL="0" indent="0">
              <a:buNone/>
            </a:pPr>
            <a:r>
              <a:rPr lang="en-US" sz="1200" dirty="0">
                <a:solidFill>
                  <a:srgbClr val="5C6B77"/>
                </a:solidFill>
                <a:latin typeface="Calibri" pitchFamily="34" charset="0"/>
                <a:ea typeface="Calibri" pitchFamily="34" charset="-122"/>
                <a:cs typeface="Calibri" pitchFamily="34" charset="-120"/>
              </a:rPr>
              <a:t>admit it, 633k driver failures at 1.62 cores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0972800" cy="237744"/>
          </a:xfrm>
          <a:prstGeom prst="rect">
            <a:avLst/>
          </a:prstGeom>
          <a:noFill/>
          <a:ln/>
        </p:spPr>
        <p:txBody>
          <a:bodyPr wrap="square" lIns="0" tIns="0" rIns="0" bIns="0" rtlCol="0" anchor="ctr"/>
          <a:lstStyle/>
          <a:p>
            <a:pPr marL="0" indent="0">
              <a:buNone/>
            </a:pPr>
            <a:r>
              <a:rPr lang="en-US" sz="1100" b="1" kern="0" spc="160" dirty="0">
                <a:solidFill>
                  <a:srgbClr val="5C6B77"/>
                </a:solidFill>
                <a:latin typeface="Calibri" pitchFamily="34" charset="0"/>
                <a:ea typeface="Calibri" pitchFamily="34" charset="-122"/>
                <a:cs typeface="Calibri" pitchFamily="34" charset="-120"/>
              </a:rPr>
              <a:t>MIGRATION</a:t>
            </a:r>
            <a:endParaRPr lang="en-US" sz="1100" dirty="0"/>
          </a:p>
        </p:txBody>
      </p:sp>
      <p:sp>
        <p:nvSpPr>
          <p:cNvPr id="3" name="Text 1"/>
          <p:cNvSpPr txBox="1"/>
          <p:nvPr/>
        </p:nvSpPr>
        <p:spPr>
          <a:xfrm>
            <a:off x="594360" y="603504"/>
            <a:ext cx="10972800" cy="731520"/>
          </a:xfrm>
          <a:prstGeom prst="rect">
            <a:avLst/>
          </a:prstGeom>
          <a:noFill/>
          <a:ln/>
        </p:spPr>
        <p:txBody>
          <a:bodyPr wrap="square" lIns="0" tIns="0" rIns="0" bIns="0" rtlCol="0" anchor="ctr"/>
          <a:lstStyle/>
          <a:p>
            <a:pPr marL="0" indent="0">
              <a:buNone/>
            </a:pPr>
            <a:r>
              <a:rPr lang="en-US" sz="2900" b="1" dirty="0">
                <a:solidFill>
                  <a:srgbClr val="1F2933"/>
                </a:solidFill>
                <a:latin typeface="Cambria" pitchFamily="34" charset="0"/>
                <a:ea typeface="Cambria" pitchFamily="34" charset="-122"/>
                <a:cs typeface="Cambria" pitchFamily="34" charset="-120"/>
              </a:rPr>
              <a:t>Ecosystem: what changes with the driver</a:t>
            </a:r>
            <a:endParaRPr lang="en-US" sz="2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972800" cy="3127248"/>
        </p:xfrm>
        <a:graphic>
          <a:graphicData uri="http://schemas.openxmlformats.org/drawingml/2006/table">
            <a:tbl>
              <a:tblPr/>
              <a:tblGrid>
                <a:gridCol w="28346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47472">
                <a:tc>
                  <a:txBody>
                    <a:bodyPr/>
                    <a:lstStyle/>
                    <a:p>
                      <a:pPr marL="0" indent="0" algn="l">
                        <a:buNone/>
                      </a:pP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72B2"/>
                          </a:solidFill>
                          <a:latin typeface="Calibri" pitchFamily="34" charset="0"/>
                          <a:ea typeface="Calibri" pitchFamily="34" charset="-122"/>
                          <a:cs typeface="Calibri" pitchFamily="34" charset="-120"/>
                        </a:rPr>
                        <a:t>WebFlux + R2DBC (today)</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009E73"/>
                          </a:solidFill>
                          <a:latin typeface="Calibri" pitchFamily="34" charset="0"/>
                          <a:ea typeface="Calibri" pitchFamily="34" charset="-122"/>
                          <a:cs typeface="Calibri" pitchFamily="34" charset="-120"/>
                        </a:rPr>
                        <a:t>MVC + virtual threads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PostgreSQL driver</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r2dbc-postgresql 1.1.2</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postgresql 42.7.13</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Connection pool</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R2DBC Pool</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HikariCP</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ORM</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none available</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Hibernate / Spring Data JPA</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Query APIs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DatabaseClient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JdbcClient, JdbcTemplate, JPA</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Transactions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reactive, context-bound</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@Transactional, thread-bound</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Migrations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Flyway needs a JDBC driver anyway</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Flyway natively</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Tracing context</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Reactor Context, plumbed explicitly</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ThreadLocal / MDC works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Stack traces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reactor internals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a:lstStyle/>
                    <a:p>
                      <a:pPr marL="0" indent="0" algn="r">
                        <a:buNone/>
                      </a:pPr>
                      <a:r>
                        <a:rPr lang="en-US" sz="1300" dirty="0">
                          <a:solidFill>
                            <a:srgbClr val="5C6B77"/>
                          </a:solidFill>
                          <a:latin typeface="Calibri" pitchFamily="34" charset="0"/>
                          <a:ea typeface="Calibri" pitchFamily="34" charset="-122"/>
                          <a:cs typeface="Calibri" pitchFamily="34" charset="-120"/>
                        </a:rPr>
                        <a:t>our own classes</a:t>
                      </a:r>
                      <a:endParaRPr lang="en-US" sz="1300" dirty="0">
                        <a:latin typeface="Calibri" charset="0"/>
                        <a:ea typeface="Calibri" charset="0"/>
                        <a:cs typeface="Calibri" charset="0"/>
                      </a:endParaRPr>
                    </a:p>
                  </a:txBody>
                  <a:tcP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594360" y="4800600"/>
            <a:ext cx="10972800" cy="457200"/>
          </a:xfrm>
          <a:prstGeom prst="rect">
            <a:avLst/>
          </a:prstGeom>
          <a:noFill/>
          <a:ln/>
        </p:spPr>
        <p:txBody>
          <a:bodyPr wrap="square" lIns="0" tIns="0" rIns="0" bIns="0" rtlCol="0" anchor="ctr"/>
          <a:lstStyle/>
          <a:p>
            <a:pPr marL="0" indent="0">
              <a:buNone/>
            </a:pPr>
            <a:r>
              <a:rPr lang="en-US" sz="1300" i="1" dirty="0">
                <a:solidFill>
                  <a:srgbClr val="5C6B77"/>
                </a:solidFill>
                <a:latin typeface="Calibri" pitchFamily="34" charset="0"/>
                <a:ea typeface="Calibri" pitchFamily="34" charset="-122"/>
                <a:cs typeface="Calibri" pitchFamily="34" charset="-120"/>
              </a:rPr>
              <a:t>A reactive service already ships a JDBC driver for schema migrations, so moving does not add a dependency there — it removes the second one.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94360" y="502920"/>
            <a:ext cx="10972800" cy="274320"/>
          </a:xfrm>
          <a:prstGeom prst="rect">
            <a:avLst/>
          </a:prstGeom>
          <a:noFill/>
          <a:ln/>
        </p:spPr>
        <p:txBody>
          <a:bodyPr wrap="square" lIns="0" tIns="0" rIns="0" bIns="0" rtlCol="0" anchor="ctr"/>
          <a:lstStyle/>
          <a:p>
            <a:pPr marL="0" indent="0">
              <a:buNone/>
            </a:pPr>
            <a:r>
              <a:rPr lang="en-US" sz="1200" b="1" kern="0" spc="180" dirty="0">
                <a:solidFill>
                  <a:srgbClr val="8896A2"/>
                </a:solidFill>
                <a:latin typeface="Calibri" pitchFamily="34" charset="0"/>
                <a:ea typeface="Calibri" pitchFamily="34" charset="-122"/>
                <a:cs typeface="Calibri" pitchFamily="34" charset="-120"/>
              </a:rPr>
              <a:t>WHERE THIS LEAVES US</a:t>
            </a:r>
            <a:endParaRPr lang="en-US" sz="1200" dirty="0"/>
          </a:p>
        </p:txBody>
      </p:sp>
      <p:sp>
        <p:nvSpPr>
          <p:cNvPr id="3" name="Text 1"/>
          <p:cNvSpPr txBox="1"/>
          <p:nvPr/>
        </p:nvSpPr>
        <p:spPr>
          <a:xfrm>
            <a:off x="594360" y="868680"/>
            <a:ext cx="10607040" cy="9144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Virtual threads are a credible replacement. The open question is cost, not capability.</a:t>
            </a:r>
            <a:endParaRPr lang="en-US" sz="2800" dirty="0"/>
          </a:p>
        </p:txBody>
      </p:sp>
      <p:sp>
        <p:nvSpPr>
          <p:cNvPr id="4" name="Text 2"/>
          <p:cNvSpPr txBox="1"/>
          <p:nvPr/>
        </p:nvSpPr>
        <p:spPr>
          <a:xfrm>
            <a:off x="594360" y="1965960"/>
            <a:ext cx="2286000" cy="310896"/>
          </a:xfrm>
          <a:prstGeom prst="rect">
            <a:avLst/>
          </a:prstGeom>
          <a:noFill/>
          <a:ln/>
        </p:spPr>
        <p:txBody>
          <a:bodyPr wrap="square" lIns="0" tIns="0" rIns="0" bIns="0" rtlCol="0" anchor="ctr"/>
          <a:lstStyle/>
          <a:p>
            <a:pPr marL="0" indent="0">
              <a:buNone/>
            </a:pPr>
            <a:r>
              <a:rPr lang="en-US" sz="1600" b="1" dirty="0">
                <a:solidFill>
                  <a:srgbClr val="009E73"/>
                </a:solidFill>
                <a:latin typeface="Calibri" pitchFamily="34" charset="0"/>
                <a:ea typeface="Calibri" pitchFamily="34" charset="-122"/>
                <a:cs typeface="Calibri" pitchFamily="34" charset="-120"/>
              </a:rPr>
              <a:t>Capability</a:t>
            </a:r>
            <a:endParaRPr lang="en-US" sz="1600" dirty="0"/>
          </a:p>
        </p:txBody>
      </p:sp>
      <p:sp>
        <p:nvSpPr>
          <p:cNvPr id="5" name="Text 3"/>
          <p:cNvSpPr txBox="1"/>
          <p:nvPr/>
        </p:nvSpPr>
        <p:spPr>
          <a:xfrm>
            <a:off x="3063240" y="1728906"/>
            <a:ext cx="8412480" cy="822960"/>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Matched WebFlux on latency at every rate on every workload tested, within 0.1 ms.</a:t>
            </a:r>
            <a:endParaRPr lang="en-US" sz="1400" dirty="0"/>
          </a:p>
        </p:txBody>
      </p:sp>
      <p:sp>
        <p:nvSpPr>
          <p:cNvPr id="6" name="Text 4"/>
          <p:cNvSpPr txBox="1"/>
          <p:nvPr/>
        </p:nvSpPr>
        <p:spPr>
          <a:xfrm>
            <a:off x="594360" y="2990088"/>
            <a:ext cx="2286000" cy="310896"/>
          </a:xfrm>
          <a:prstGeom prst="rect">
            <a:avLst/>
          </a:prstGeom>
          <a:noFill/>
          <a:ln/>
        </p:spPr>
        <p:txBody>
          <a:bodyPr wrap="square" lIns="0" tIns="0" rIns="0" bIns="0" rtlCol="0" anchor="ctr"/>
          <a:lstStyle/>
          <a:p>
            <a:pPr marL="0" indent="0">
              <a:buNone/>
            </a:pPr>
            <a:r>
              <a:rPr lang="en-US" sz="1600" b="1" dirty="0">
                <a:solidFill>
                  <a:srgbClr val="E8B4A0"/>
                </a:solidFill>
                <a:latin typeface="Calibri" pitchFamily="34" charset="0"/>
                <a:ea typeface="Calibri" pitchFamily="34" charset="-122"/>
                <a:cs typeface="Calibri" pitchFamily="34" charset="-120"/>
              </a:rPr>
              <a:t>CPU</a:t>
            </a:r>
            <a:endParaRPr lang="en-US" sz="1600" dirty="0"/>
          </a:p>
        </p:txBody>
      </p:sp>
      <p:sp>
        <p:nvSpPr>
          <p:cNvPr id="7" name="Text 5"/>
          <p:cNvSpPr txBox="1"/>
          <p:nvPr/>
        </p:nvSpPr>
        <p:spPr>
          <a:xfrm>
            <a:off x="3063240" y="2826186"/>
            <a:ext cx="8412480" cy="822960"/>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36 % more on /api, where there is no database. 2.6× less on /db-heavy, where there is. The direction depends on the workload.</a:t>
            </a:r>
            <a:endParaRPr lang="en-US" sz="1400" dirty="0"/>
          </a:p>
        </p:txBody>
      </p:sp>
      <p:sp>
        <p:nvSpPr>
          <p:cNvPr id="8" name="Text 6"/>
          <p:cNvSpPr txBox="1"/>
          <p:nvPr/>
        </p:nvSpPr>
        <p:spPr>
          <a:xfrm>
            <a:off x="594360" y="4014216"/>
            <a:ext cx="2286000" cy="310896"/>
          </a:xfrm>
          <a:prstGeom prst="rect">
            <a:avLst/>
          </a:prstGeom>
          <a:noFill/>
          <a:ln/>
        </p:spPr>
        <p:txBody>
          <a:bodyPr wrap="square" lIns="0" tIns="0" rIns="0" bIns="0" rtlCol="0" anchor="ctr"/>
          <a:lstStyle/>
          <a:p>
            <a:pPr marL="0" indent="0">
              <a:buNone/>
            </a:pPr>
            <a:r>
              <a:rPr lang="en-US" sz="1600" b="1" dirty="0">
                <a:solidFill>
                  <a:srgbClr val="E8B4A0"/>
                </a:solidFill>
                <a:latin typeface="Calibri" pitchFamily="34" charset="0"/>
                <a:ea typeface="Calibri" pitchFamily="34" charset="-122"/>
                <a:cs typeface="Calibri" pitchFamily="34" charset="-120"/>
              </a:rPr>
              <a:t>Memory</a:t>
            </a:r>
            <a:endParaRPr lang="en-US" sz="1600" dirty="0"/>
          </a:p>
        </p:txBody>
      </p:sp>
      <p:sp>
        <p:nvSpPr>
          <p:cNvPr id="9" name="Text 7"/>
          <p:cNvSpPr txBox="1"/>
          <p:nvPr/>
        </p:nvSpPr>
        <p:spPr>
          <a:xfrm>
            <a:off x="3063240" y="3840480"/>
            <a:ext cx="8412480" cy="822960"/>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Footprint did not separate the builds; allocation did. Reactive allocates 3.8× more per request on /db-heavy and 1.6× less on /api. Under overload virtual threads retain heap in proportion to what they admit — 801 MB of 1,024 at /db-heavy 2,000 rps.</a:t>
            </a:r>
            <a:endParaRPr lang="en-US" sz="1400" dirty="0"/>
          </a:p>
        </p:txBody>
      </p:sp>
      <p:sp>
        <p:nvSpPr>
          <p:cNvPr id="10" name="Text 8"/>
          <p:cNvSpPr txBox="1"/>
          <p:nvPr/>
        </p:nvSpPr>
        <p:spPr>
          <a:xfrm>
            <a:off x="594360" y="5038344"/>
            <a:ext cx="2286000" cy="310896"/>
          </a:xfrm>
          <a:prstGeom prst="rect">
            <a:avLst/>
          </a:prstGeom>
          <a:noFill/>
          <a:ln/>
        </p:spPr>
        <p:txBody>
          <a:bodyPr wrap="square" lIns="0" tIns="0" rIns="0" bIns="0" rtlCol="0" anchor="ctr"/>
          <a:lstStyle/>
          <a:p>
            <a:pPr marL="0" indent="0">
              <a:buNone/>
            </a:pPr>
            <a:r>
              <a:rPr lang="en-US" sz="1600" b="1" dirty="0">
                <a:solidFill>
                  <a:srgbClr val="009E73"/>
                </a:solidFill>
                <a:latin typeface="Calibri" pitchFamily="34" charset="0"/>
                <a:ea typeface="Calibri" pitchFamily="34" charset="-122"/>
                <a:cs typeface="Calibri" pitchFamily="34" charset="-120"/>
              </a:rPr>
              <a:t>Engineering</a:t>
            </a:r>
            <a:endParaRPr lang="en-US" sz="1600" dirty="0"/>
          </a:p>
        </p:txBody>
      </p:sp>
      <p:sp>
        <p:nvSpPr>
          <p:cNvPr id="11" name="Text 9"/>
          <p:cNvSpPr txBox="1"/>
          <p:nvPr/>
        </p:nvSpPr>
        <p:spPr>
          <a:xfrm>
            <a:off x="3063240" y="4800600"/>
            <a:ext cx="8412480" cy="822960"/>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Ordinary code, real stack traces, working debuggers, a mature driver, a larger hiring pool.</a:t>
            </a:r>
            <a:endParaRPr lang="en-US" sz="1400" dirty="0"/>
          </a:p>
        </p:txBody>
      </p:sp>
      <p:sp>
        <p:nvSpPr>
          <p:cNvPr id="12" name="Text 10"/>
          <p:cNvSpPr txBox="1"/>
          <p:nvPr/>
        </p:nvSpPr>
        <p:spPr>
          <a:xfrm>
            <a:off x="594360" y="5897880"/>
            <a:ext cx="10972800" cy="365760"/>
          </a:xfrm>
          <a:prstGeom prst="rect">
            <a:avLst/>
          </a:prstGeom>
          <a:noFill/>
          <a:ln/>
        </p:spPr>
        <p:txBody>
          <a:bodyPr wrap="square" lIns="0" tIns="0" rIns="0" bIns="0" rtlCol="0" anchor="ctr"/>
          <a:lstStyle/>
          <a:p>
            <a:pPr marL="0" indent="0">
              <a:buNone/>
            </a:pPr>
            <a:r>
              <a:rPr lang="en-US" sz="1300" i="1" dirty="0">
                <a:solidFill>
                  <a:srgbClr val="8896A2"/>
                </a:solidFill>
                <a:latin typeface="Calibri" pitchFamily="34" charset="0"/>
                <a:ea typeface="Calibri" pitchFamily="34" charset="-122"/>
                <a:cs typeface="Calibri" pitchFamily="34" charset="-120"/>
              </a:rPr>
              <a:t>Two repetitions per cell in a single session. Differences of the size seen on /db-heavy and /api are safe to act on; smaller ones are not.</a:t>
            </a:r>
            <a:endParaRPr lang="en-US" sz="13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APPENDIX · ALL CELLS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/nodb — every cell</a:t>
            </a:r>
          </a:p>
        </p:txBody>
      </p:sp>
      <p:graphicFrame>
        <p:nvGraphicFramePr>
          <p:cNvPr id="4" name="Table 3"/>
          <p:cNvGraphicFramePr>
            <a:graphicFrameLocks noGrp="1"/>
          </p:cNvGraphicFramePr>
          <p:nvPr/>
        </p:nvGraphicFramePr>
        <p:xfrm>
          <a:off x="594360" y="1417320"/>
          <a:ext cx="10972800" cy="3268980"/>
        </p:xfrm>
        <a:graphic>
          <a:graphicData uri="http://schemas.openxmlformats.org/drawingml/2006/table">
            <a:tbl>
              <a:tblPr/>
              <a:tblGrid>
                <a:gridCol w="960120"/>
                <a:gridCol w="1325880"/>
                <a:gridCol w="868680"/>
                <a:gridCol w="960120"/>
                <a:gridCol w="1097280"/>
                <a:gridCol w="1097280"/>
                <a:gridCol w="1234440"/>
                <a:gridCol w="1188720"/>
                <a:gridCol w="1143000"/>
                <a:gridCol w="1097280"/>
              </a:tblGrid>
              <a:tr h="251460">
                <a:tc>
                  <a:txBody>
                    <a:bodyPr wrap="none"/>
                    <a:lstStyle/>
                    <a:p>
                      <a:pPr algn="l"/>
                      <a:r>
                        <a:rPr sz="1100" b="1">
                          <a:solidFill>
                            <a:srgbClr val="1F2933"/>
                          </a:solidFill>
                          <a:latin typeface="Calibri"/>
                        </a:rPr>
                        <a:t>rate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valid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err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cores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MB/1k</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live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0.086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0.078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0.083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0.080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0.074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0.094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0.123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0.123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4887468"/>
            <a:ext cx="10972800" cy="685800"/>
          </a:xfrm>
          <a:prstGeom prst="rect">
            <a:avLst/>
          </a:prstGeom>
          <a:noFill/>
        </p:spPr>
        <p:txBody>
          <a:bodyPr wrap="square" lIns="0" rIns="0" tIns="0" bIns="0">
            <a:spAutoFit/>
          </a:bodyPr>
          <a:lstStyle/>
          <a:p>
            <a:r>
              <a:rPr sz="1300" b="0">
                <a:solidFill>
                  <a:srgbClr val="5C6B77"/>
                </a:solidFill>
                <a:latin typeface="Calibri"/>
              </a:rPr>
              <a:t>No database, no upstream — the control. All 24 cells valid, no errors at any rate. Nothing separates the three builds, which is what makes the other workloads readable.</a:t>
            </a:r>
          </a:p>
        </p:txBody>
      </p:sp>
      <p:sp>
        <p:nvSpPr>
          <p:cNvPr id="6" name="TextBox 5"/>
          <p:cNvSpPr txBox="1"/>
          <p:nvPr/>
        </p:nvSpPr>
        <p:spPr>
          <a:xfrm>
            <a:off x="594360" y="5618988"/>
            <a:ext cx="10972800" cy="365760"/>
          </a:xfrm>
          <a:prstGeom prst="rect">
            <a:avLst/>
          </a:prstGeom>
          <a:noFill/>
        </p:spPr>
        <p:txBody>
          <a:bodyPr wrap="square" lIns="0" rIns="0" tIns="0" bIns="0">
            <a:spAutoFit/>
          </a:bodyPr>
          <a:lstStyle/>
          <a:p>
            <a:r>
              <a:rPr sz="1100" b="0">
                <a:solidFill>
                  <a:srgbClr val="5C6B77"/>
                </a:solidFill>
                <a:latin typeface="Calibri"/>
              </a:rPr>
              <a:t>Medians of the valid repetitions. valid = repetitions where k6 sustained the offered rate; ⚠ marks cells where neither did, shown greyed and not safe to quote. Latency ms, MB/1k = allocation per 1,000 requests, live MB = live set.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APPENDIX · ALL CELLS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/db — every cell</a:t>
            </a:r>
          </a:p>
        </p:txBody>
      </p:sp>
      <p:graphicFrame>
        <p:nvGraphicFramePr>
          <p:cNvPr id="4" name="Table 3"/>
          <p:cNvGraphicFramePr>
            <a:graphicFrameLocks noGrp="1"/>
          </p:cNvGraphicFramePr>
          <p:nvPr/>
        </p:nvGraphicFramePr>
        <p:xfrm>
          <a:off x="594360" y="1417320"/>
          <a:ext cx="10972800" cy="3268980"/>
        </p:xfrm>
        <a:graphic>
          <a:graphicData uri="http://schemas.openxmlformats.org/drawingml/2006/table">
            <a:tbl>
              <a:tblPr/>
              <a:tblGrid>
                <a:gridCol w="960120"/>
                <a:gridCol w="1325880"/>
                <a:gridCol w="868680"/>
                <a:gridCol w="960120"/>
                <a:gridCol w="1097280"/>
                <a:gridCol w="1097280"/>
                <a:gridCol w="1234440"/>
                <a:gridCol w="1188720"/>
                <a:gridCol w="1143000"/>
                <a:gridCol w="1097280"/>
              </a:tblGrid>
              <a:tr h="251460">
                <a:tc>
                  <a:txBody>
                    <a:bodyPr wrap="none"/>
                    <a:lstStyle/>
                    <a:p>
                      <a:pPr algn="l"/>
                      <a:r>
                        <a:rPr sz="1100" b="1">
                          <a:solidFill>
                            <a:srgbClr val="1F2933"/>
                          </a:solidFill>
                          <a:latin typeface="Calibri"/>
                        </a:rPr>
                        <a:t>rate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valid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err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cores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MB/1k</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live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0.193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0.094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0.292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0.174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0.352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0.287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0.157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4887468"/>
            <a:ext cx="10972800" cy="685800"/>
          </a:xfrm>
          <a:prstGeom prst="rect">
            <a:avLst/>
          </a:prstGeom>
          <a:noFill/>
        </p:spPr>
        <p:txBody>
          <a:bodyPr wrap="square" lIns="0" rIns="0" tIns="0" bIns="0">
            <a:spAutoFit/>
          </a:bodyPr>
          <a:lstStyle/>
          <a:p>
            <a:r>
              <a:rPr sz="1300" b="0">
                <a:solidFill>
                  <a:srgbClr val="5C6B77"/>
                </a:solidFill>
                <a:latin typeface="Calibri"/>
              </a:rPr>
              <a:t>A sub-millisecond query. All 24 cells valid, no errors. Reactive's p99 is already 2.6x the others at 2,000 rps. The live set reads 0 for both MVC builds because no old-gen collection ever ran — absent, not zero.</a:t>
            </a:r>
          </a:p>
        </p:txBody>
      </p:sp>
      <p:sp>
        <p:nvSpPr>
          <p:cNvPr id="6" name="TextBox 5"/>
          <p:cNvSpPr txBox="1"/>
          <p:nvPr/>
        </p:nvSpPr>
        <p:spPr>
          <a:xfrm>
            <a:off x="594360" y="5618988"/>
            <a:ext cx="10972800" cy="365760"/>
          </a:xfrm>
          <a:prstGeom prst="rect">
            <a:avLst/>
          </a:prstGeom>
          <a:noFill/>
        </p:spPr>
        <p:txBody>
          <a:bodyPr wrap="square" lIns="0" rIns="0" tIns="0" bIns="0">
            <a:spAutoFit/>
          </a:bodyPr>
          <a:lstStyle/>
          <a:p>
            <a:r>
              <a:rPr sz="1100" b="0">
                <a:solidFill>
                  <a:srgbClr val="5C6B77"/>
                </a:solidFill>
                <a:latin typeface="Calibri"/>
              </a:rPr>
              <a:t>Medians of the valid repetitions. valid = repetitions where k6 sustained the offered rate; ⚠ marks cells where neither did, shown greyed and not safe to quote. Latency ms, MB/1k = allocation per 1,000 requests, live MB = live set.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APPENDIX · ALL CELLS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/db-heavy — every cell</a:t>
            </a:r>
          </a:p>
        </p:txBody>
      </p:sp>
      <p:graphicFrame>
        <p:nvGraphicFramePr>
          <p:cNvPr id="4" name="Table 3"/>
          <p:cNvGraphicFramePr>
            <a:graphicFrameLocks noGrp="1"/>
          </p:cNvGraphicFramePr>
          <p:nvPr/>
        </p:nvGraphicFramePr>
        <p:xfrm>
          <a:off x="594360" y="1417320"/>
          <a:ext cx="10972800" cy="3268980"/>
        </p:xfrm>
        <a:graphic>
          <a:graphicData uri="http://schemas.openxmlformats.org/drawingml/2006/table">
            <a:tbl>
              <a:tblPr/>
              <a:tblGrid>
                <a:gridCol w="960120"/>
                <a:gridCol w="1325880"/>
                <a:gridCol w="868680"/>
                <a:gridCol w="960120"/>
                <a:gridCol w="1097280"/>
                <a:gridCol w="1097280"/>
                <a:gridCol w="1234440"/>
                <a:gridCol w="1188720"/>
                <a:gridCol w="1143000"/>
                <a:gridCol w="1097280"/>
              </a:tblGrid>
              <a:tr h="251460">
                <a:tc>
                  <a:txBody>
                    <a:bodyPr wrap="none"/>
                    <a:lstStyle/>
                    <a:p>
                      <a:pPr algn="l"/>
                      <a:r>
                        <a:rPr sz="1100" b="1">
                          <a:solidFill>
                            <a:srgbClr val="1F2933"/>
                          </a:solidFill>
                          <a:latin typeface="Calibri"/>
                        </a:rPr>
                        <a:t>rate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valid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err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cores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MB/1k</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live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0.258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0.192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0.131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229.3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313.0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409.3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19.7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33.2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0.233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28.7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5C6B77"/>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0/2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59.8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919.8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1,534.0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2,213.9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0.498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287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999.1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1,058.3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1.279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1,026.8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187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4887468"/>
            <a:ext cx="10972800" cy="685800"/>
          </a:xfrm>
          <a:prstGeom prst="rect">
            <a:avLst/>
          </a:prstGeom>
          <a:noFill/>
        </p:spPr>
        <p:txBody>
          <a:bodyPr wrap="square" lIns="0" rIns="0" tIns="0" bIns="0">
            <a:spAutoFit/>
          </a:bodyPr>
          <a:lstStyle/>
          <a:p>
            <a:r>
              <a:rPr sz="1300" b="0">
                <a:solidFill>
                  <a:srgbClr val="5C6B77"/>
                </a:solidFill>
                <a:latin typeface="Calibri"/>
              </a:rPr>
              <a:t>The decisive workload. The tail opens at 1,000 rps, not 1,500: WebFlux's p99 is 229 ms there while its p50 is untouched. 2,000 rps is past the pool's 1,670 rps ceiling, so all three fail and WebFlux's cell is invalid on top of that.</a:t>
            </a:r>
          </a:p>
        </p:txBody>
      </p:sp>
      <p:sp>
        <p:nvSpPr>
          <p:cNvPr id="6" name="TextBox 5"/>
          <p:cNvSpPr txBox="1"/>
          <p:nvPr/>
        </p:nvSpPr>
        <p:spPr>
          <a:xfrm>
            <a:off x="594360" y="5618988"/>
            <a:ext cx="10972800" cy="365760"/>
          </a:xfrm>
          <a:prstGeom prst="rect">
            <a:avLst/>
          </a:prstGeom>
          <a:noFill/>
        </p:spPr>
        <p:txBody>
          <a:bodyPr wrap="square" lIns="0" rIns="0" tIns="0" bIns="0">
            <a:spAutoFit/>
          </a:bodyPr>
          <a:lstStyle/>
          <a:p>
            <a:r>
              <a:rPr sz="1100" b="0">
                <a:solidFill>
                  <a:srgbClr val="5C6B77"/>
                </a:solidFill>
                <a:latin typeface="Calibri"/>
              </a:rPr>
              <a:t>Medians of the valid repetitions. valid = repetitions where k6 sustained the offered rate; ⚠ marks cells where neither did, shown greyed and not safe to quote. Latency ms, MB/1k = allocation per 1,000 requests, live MB = live set.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APPENDIX · ALL CELLS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/api — every cell</a:t>
            </a:r>
          </a:p>
        </p:txBody>
      </p:sp>
      <p:graphicFrame>
        <p:nvGraphicFramePr>
          <p:cNvPr id="4" name="Table 3"/>
          <p:cNvGraphicFramePr>
            <a:graphicFrameLocks noGrp="1"/>
          </p:cNvGraphicFramePr>
          <p:nvPr/>
        </p:nvGraphicFramePr>
        <p:xfrm>
          <a:off x="594360" y="1417320"/>
          <a:ext cx="10972800" cy="3268980"/>
        </p:xfrm>
        <a:graphic>
          <a:graphicData uri="http://schemas.openxmlformats.org/drawingml/2006/table">
            <a:tbl>
              <a:tblPr/>
              <a:tblGrid>
                <a:gridCol w="960120"/>
                <a:gridCol w="1325880"/>
                <a:gridCol w="868680"/>
                <a:gridCol w="960120"/>
                <a:gridCol w="1097280"/>
                <a:gridCol w="1097280"/>
                <a:gridCol w="1234440"/>
                <a:gridCol w="1188720"/>
                <a:gridCol w="1143000"/>
                <a:gridCol w="1097280"/>
              </a:tblGrid>
              <a:tr h="251460">
                <a:tc>
                  <a:txBody>
                    <a:bodyPr wrap="none"/>
                    <a:lstStyle/>
                    <a:p>
                      <a:pPr algn="l"/>
                      <a:r>
                        <a:rPr sz="1100" b="1">
                          <a:solidFill>
                            <a:srgbClr val="1F2933"/>
                          </a:solidFill>
                          <a:latin typeface="Calibri"/>
                        </a:rPr>
                        <a:t>rate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valid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err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cores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MB/1k</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live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214.5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208.3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205.5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668.0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828.7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858.4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0.241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205.2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207.8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0.397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320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211.8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256.9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0.560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5C6B77"/>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0/2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709.7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1,202.9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1,486.6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0.326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73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4887468"/>
            <a:ext cx="10972800" cy="685800"/>
          </a:xfrm>
          <a:prstGeom prst="rect">
            <a:avLst/>
          </a:prstGeom>
          <a:noFill/>
        </p:spPr>
        <p:txBody>
          <a:bodyPr wrap="square" lIns="0" rIns="0" tIns="0" bIns="0">
            <a:spAutoFit/>
          </a:bodyPr>
          <a:lstStyle/>
          <a:p>
            <a:r>
              <a:rPr sz="1300" b="0">
                <a:solidFill>
                  <a:srgbClr val="5C6B77"/>
                </a:solidFill>
                <a:latin typeface="Calibri"/>
              </a:rPr>
              <a:t>200 ms upstream, no database. The two candidates are indistinguishable on latency across a fourfold rate range; virtual threads pay 36 % more CPU at 2,000 rps for it. Platform threads hit Tomcat's wall exactly where Little's Law puts it: 200 / 0.2 s = 1,000 rps.</a:t>
            </a:r>
          </a:p>
        </p:txBody>
      </p:sp>
      <p:sp>
        <p:nvSpPr>
          <p:cNvPr id="6" name="TextBox 5"/>
          <p:cNvSpPr txBox="1"/>
          <p:nvPr/>
        </p:nvSpPr>
        <p:spPr>
          <a:xfrm>
            <a:off x="594360" y="5618988"/>
            <a:ext cx="10972800" cy="365760"/>
          </a:xfrm>
          <a:prstGeom prst="rect">
            <a:avLst/>
          </a:prstGeom>
          <a:noFill/>
        </p:spPr>
        <p:txBody>
          <a:bodyPr wrap="square" lIns="0" rIns="0" tIns="0" bIns="0">
            <a:spAutoFit/>
          </a:bodyPr>
          <a:lstStyle/>
          <a:p>
            <a:r>
              <a:rPr sz="1100" b="0">
                <a:solidFill>
                  <a:srgbClr val="5C6B77"/>
                </a:solidFill>
                <a:latin typeface="Calibri"/>
              </a:rPr>
              <a:t>Medians of the valid repetitions. valid = repetitions where k6 sustained the offered rate; ⚠ marks cells where neither did, shown greyed and not safe to quote. Latency ms, MB/1k = allocation per 1,000 requests, live MB = live set.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APPENDIX · ALL CELLS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/db-slow — every cell</a:t>
            </a:r>
          </a:p>
        </p:txBody>
      </p:sp>
      <p:graphicFrame>
        <p:nvGraphicFramePr>
          <p:cNvPr id="4" name="Table 3"/>
          <p:cNvGraphicFramePr>
            <a:graphicFrameLocks noGrp="1"/>
          </p:cNvGraphicFramePr>
          <p:nvPr/>
        </p:nvGraphicFramePr>
        <p:xfrm>
          <a:off x="594360" y="1417320"/>
          <a:ext cx="10972800" cy="3268980"/>
        </p:xfrm>
        <a:graphic>
          <a:graphicData uri="http://schemas.openxmlformats.org/drawingml/2006/table">
            <a:tbl>
              <a:tblPr/>
              <a:tblGrid>
                <a:gridCol w="960120"/>
                <a:gridCol w="1325880"/>
                <a:gridCol w="868680"/>
                <a:gridCol w="960120"/>
                <a:gridCol w="1097280"/>
                <a:gridCol w="1097280"/>
                <a:gridCol w="1234440"/>
                <a:gridCol w="1188720"/>
                <a:gridCol w="1143000"/>
                <a:gridCol w="1097280"/>
              </a:tblGrid>
              <a:tr h="251460">
                <a:tc>
                  <a:txBody>
                    <a:bodyPr wrap="none"/>
                    <a:lstStyle/>
                    <a:p>
                      <a:pPr algn="l"/>
                      <a:r>
                        <a:rPr sz="1100" b="1">
                          <a:solidFill>
                            <a:srgbClr val="1F2933"/>
                          </a:solidFill>
                          <a:latin typeface="Calibri"/>
                        </a:rPr>
                        <a:t>rate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valid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err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cores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MB/1k</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live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712.5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0.430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790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99.1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1,013.0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0.296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717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0.057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99.1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772.9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0.846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99.0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1,015.1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1.127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5C6B77"/>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0/2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1,127.1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1,435.6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0.053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44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179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906.5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1.632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776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236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98.9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539.1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1,019.1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1.172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177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907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5C6B77"/>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0/2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1,272.4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1,932.5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0.054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43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5C6B77"/>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0/2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98.0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729.1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2,167.5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3,354.6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0.144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599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5C6B77"/>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0/2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99.3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553.6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1,165.1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1,634.2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1.193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190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866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5C6B77"/>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platform</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5C6B77"/>
                          </a:solidFill>
                          <a:latin typeface="Calibri"/>
                        </a:rPr>
                        <a:t>0/2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1,224.6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2,296.7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0.050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5C6B77"/>
                          </a:solidFill>
                          <a:latin typeface="Calibri"/>
                        </a:rPr>
                        <a:t>248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4887468"/>
            <a:ext cx="10972800" cy="685800"/>
          </a:xfrm>
          <a:prstGeom prst="rect">
            <a:avLst/>
          </a:prstGeom>
          <a:noFill/>
        </p:spPr>
        <p:txBody>
          <a:bodyPr wrap="square" lIns="0" rIns="0" tIns="0" bIns="0">
            <a:spAutoFit/>
          </a:bodyPr>
          <a:lstStyle/>
          <a:p>
            <a:r>
              <a:rPr sz="1300" b="0">
                <a:solidFill>
                  <a:srgbClr val="5C6B77"/>
                </a:solidFill>
                <a:latin typeface="Calibri"/>
              </a:rPr>
              <a:t>Every cell fails by construction — the ladder starts at 500 rps against a 200 rps ceiling. What it shows is three failure styles: platform threads refuse work at 0.05 cores, virtual threads saturate the heap, reactive burns 1.6 cores making garbage.</a:t>
            </a:r>
          </a:p>
        </p:txBody>
      </p:sp>
      <p:sp>
        <p:nvSpPr>
          <p:cNvPr id="6" name="TextBox 5"/>
          <p:cNvSpPr txBox="1"/>
          <p:nvPr/>
        </p:nvSpPr>
        <p:spPr>
          <a:xfrm>
            <a:off x="594360" y="5618988"/>
            <a:ext cx="10972800" cy="365760"/>
          </a:xfrm>
          <a:prstGeom prst="rect">
            <a:avLst/>
          </a:prstGeom>
          <a:noFill/>
        </p:spPr>
        <p:txBody>
          <a:bodyPr wrap="square" lIns="0" rIns="0" tIns="0" bIns="0">
            <a:spAutoFit/>
          </a:bodyPr>
          <a:lstStyle/>
          <a:p>
            <a:r>
              <a:rPr sz="1100" b="0">
                <a:solidFill>
                  <a:srgbClr val="5C6B77"/>
                </a:solidFill>
                <a:latin typeface="Calibri"/>
              </a:rPr>
              <a:t>Medians of the valid repetitions. valid = repetitions where k6 sustained the offered rate; ⚠ marks cells where neither did, shown greyed and not safe to quote. Latency ms, MB/1k = allocation per 1,000 requests, live MB = live 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3284</Words>
  <Application>Microsoft Office PowerPoint</Application>
  <PresentationFormat>Widescreen</PresentationFormat>
  <Paragraphs>447</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WebFlux vs Virtual Threads - AWS run</dc:title>
  <dc:subject>PptxGenJS Presentation</dc:subject>
  <dc:creator>PptxGenJS</dc:creator>
  <cp:lastModifiedBy>Dio Deiva Wijaya</cp:lastModifiedBy>
  <cp:revision>10</cp:revision>
  <dcterms:created xsi:type="dcterms:W3CDTF">2026-09-21T12:00:53Z</dcterms:created>
  <dcterms:modified xsi:type="dcterms:W3CDTF">2026-09-22T14:03:28Z</dcterms:modified>
</cp:coreProperties>
</file>