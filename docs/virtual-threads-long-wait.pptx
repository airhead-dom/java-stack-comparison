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5291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240280"/>
            <a:ext cx="10972800" cy="274320"/>
          </a:xfrm>
          <a:prstGeom prst="rect">
            <a:avLst/>
          </a:prstGeom>
          <a:noFill/>
        </p:spPr>
        <p:txBody>
          <a:bodyPr wrap="square" lIns="0" rIns="0" tIns="0" bIns="0">
            <a:spAutoFit/>
          </a:bodyPr>
          <a:lstStyle/>
          <a:p>
            <a:r>
              <a:rPr sz="1200" b="1">
                <a:solidFill>
                  <a:srgbClr val="5C6B77"/>
                </a:solidFill>
                <a:latin typeface="Calibri"/>
              </a:rPr>
              <a:t>AWS BENCHMARK · LONG-WAIT WORKLOADS</a:t>
            </a:r>
          </a:p>
        </p:txBody>
      </p:sp>
      <p:sp>
        <p:nvSpPr>
          <p:cNvPr id="3" name="TextBox 2"/>
          <p:cNvSpPr txBox="1"/>
          <p:nvPr/>
        </p:nvSpPr>
        <p:spPr>
          <a:xfrm>
            <a:off x="594360" y="2651760"/>
            <a:ext cx="10972800" cy="1005840"/>
          </a:xfrm>
          <a:prstGeom prst="rect">
            <a:avLst/>
          </a:prstGeom>
          <a:noFill/>
        </p:spPr>
        <p:txBody>
          <a:bodyPr wrap="square" lIns="0" rIns="0" tIns="0" bIns="0">
            <a:spAutoFit/>
          </a:bodyPr>
          <a:lstStyle/>
          <a:p>
            <a:r>
              <a:rPr sz="4000" b="1">
                <a:solidFill>
                  <a:srgbClr val="1F2933"/>
                </a:solidFill>
                <a:latin typeface="Cambria"/>
              </a:rPr>
              <a:t>Holding a request that is only waiting</a:t>
            </a:r>
          </a:p>
        </p:txBody>
      </p:sp>
      <p:sp>
        <p:nvSpPr>
          <p:cNvPr id="4" name="TextBox 3"/>
          <p:cNvSpPr txBox="1"/>
          <p:nvPr/>
        </p:nvSpPr>
        <p:spPr>
          <a:xfrm>
            <a:off x="594360" y="3703320"/>
            <a:ext cx="10972800" cy="822960"/>
          </a:xfrm>
          <a:prstGeom prst="rect">
            <a:avLst/>
          </a:prstGeom>
          <a:noFill/>
        </p:spPr>
        <p:txBody>
          <a:bodyPr wrap="square" lIns="0" rIns="0" tIns="0" bIns="0">
            <a:spAutoFit/>
          </a:bodyPr>
          <a:lstStyle/>
          <a:p>
            <a:r>
              <a:rPr sz="1600" b="0">
                <a:solidFill>
                  <a:srgbClr val="5C6B77"/>
                </a:solidFill>
                <a:latin typeface="Calibri"/>
              </a:rPr>
              <a:t>/api-800 and /api-1000 — what WebFlux and virtual threads each spend</a:t>
            </a:r>
          </a:p>
          <a:p>
            <a:r>
              <a:rPr sz="1600" b="0">
                <a:solidFill>
                  <a:srgbClr val="5C6B77"/>
                </a:solidFill>
                <a:latin typeface="Calibri"/>
              </a:rPr>
              <a:t>to keep up to 2,000 requests in flight doing nothing at all</a:t>
            </a:r>
          </a:p>
        </p:txBody>
      </p:sp>
      <p:sp>
        <p:nvSpPr>
          <p:cNvPr id="5" name="TextBox 4"/>
          <p:cNvSpPr txBox="1"/>
          <p:nvPr/>
        </p:nvSpPr>
        <p:spPr>
          <a:xfrm>
            <a:off x="594360" y="4892040"/>
            <a:ext cx="10972800" cy="274320"/>
          </a:xfrm>
          <a:prstGeom prst="rect">
            <a:avLst/>
          </a:prstGeom>
          <a:noFill/>
        </p:spPr>
        <p:txBody>
          <a:bodyPr wrap="square" lIns="0" rIns="0" tIns="0" bIns="0">
            <a:spAutoFit/>
          </a:bodyPr>
          <a:lstStyle/>
          <a:p>
            <a:r>
              <a:rPr sz="1200" b="0">
                <a:solidFill>
                  <a:srgbClr val="5C6B77"/>
                </a:solidFill>
                <a:latin typeface="Calibri"/>
              </a:rPr>
              <a:t>32 cells · 2 builds · 4 rates · 2 repetitions · all valid   |   c7i.large, 2 vCPU, 1 GB heap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37744"/>
          </a:xfrm>
          <a:prstGeom prst="rect">
            <a:avLst/>
          </a:prstGeom>
          <a:noFill/>
        </p:spPr>
        <p:txBody>
          <a:bodyPr wrap="square" lIns="0" rIns="0" tIns="0" bIns="0">
            <a:spAutoFit/>
          </a:bodyPr>
          <a:lstStyle/>
          <a:p>
            <a:r>
              <a:rPr sz="1100" b="1">
                <a:solidFill>
                  <a:srgbClr val="5C6B77"/>
                </a:solidFill>
                <a:latin typeface="Calibri"/>
              </a:rPr>
              <a:t>WHAT THIS TEST IS</a:t>
            </a:r>
          </a:p>
        </p:txBody>
      </p:sp>
      <p:sp>
        <p:nvSpPr>
          <p:cNvPr id="3" name="TextBox 2"/>
          <p:cNvSpPr txBox="1"/>
          <p:nvPr/>
        </p:nvSpPr>
        <p:spPr>
          <a:xfrm>
            <a:off x="594360" y="603504"/>
            <a:ext cx="10972800" cy="731520"/>
          </a:xfrm>
          <a:prstGeom prst="rect">
            <a:avLst/>
          </a:prstGeom>
          <a:noFill/>
        </p:spPr>
        <p:txBody>
          <a:bodyPr wrap="square" lIns="0" rIns="0" tIns="0" bIns="0">
            <a:spAutoFit/>
          </a:bodyPr>
          <a:lstStyle/>
          <a:p>
            <a:r>
              <a:rPr sz="2900" b="1">
                <a:solidFill>
                  <a:srgbClr val="1F2933"/>
                </a:solidFill>
                <a:latin typeface="Cambria"/>
              </a:rPr>
              <a:t>Sized past any thread count either build has</a:t>
            </a:r>
          </a:p>
        </p:txBody>
      </p:sp>
      <p:graphicFrame>
        <p:nvGraphicFramePr>
          <p:cNvPr id="4" name="Table 3"/>
          <p:cNvGraphicFramePr>
            <a:graphicFrameLocks noGrp="1"/>
          </p:cNvGraphicFramePr>
          <p:nvPr/>
        </p:nvGraphicFramePr>
        <p:xfrm>
          <a:off x="594360" y="1417320"/>
          <a:ext cx="10972800" cy="1005840"/>
        </p:xfrm>
        <a:graphic>
          <a:graphicData uri="http://schemas.openxmlformats.org/drawingml/2006/table">
            <a:tbl>
              <a:tblPr/>
              <a:tblGrid>
                <a:gridCol w="1828800"/>
                <a:gridCol w="1828800"/>
                <a:gridCol w="1828800"/>
                <a:gridCol w="1828800"/>
                <a:gridCol w="1828800"/>
                <a:gridCol w="1828800"/>
              </a:tblGrid>
              <a:tr h="251460">
                <a:tc>
                  <a:txBody>
                    <a:bodyPr wrap="none"/>
                    <a:lstStyle/>
                    <a:p>
                      <a:pPr algn="l"/>
                      <a:r>
                        <a:rPr sz="1100" b="1">
                          <a:solidFill>
                            <a:srgbClr val="1F2933"/>
                          </a:solidFill>
                          <a:latin typeface="Calibri"/>
                        </a:rPr>
                        <a:t>workload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1">
                          <a:solidFill>
                            <a:srgbClr val="1F2933"/>
                          </a:solidFill>
                          <a:latin typeface="Calibri"/>
                        </a:rPr>
                        <a:t>upstream delay</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in flight @ 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 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 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 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200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800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1,000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bl>
          </a:graphicData>
        </a:graphic>
      </p:graphicFrame>
      <p:sp>
        <p:nvSpPr>
          <p:cNvPr id="5" name="TextBox 4"/>
          <p:cNvSpPr txBox="1"/>
          <p:nvPr/>
        </p:nvSpPr>
        <p:spPr>
          <a:xfrm>
            <a:off x="594360" y="2624328"/>
            <a:ext cx="10972800" cy="822960"/>
          </a:xfrm>
          <a:prstGeom prst="rect">
            <a:avLst/>
          </a:prstGeom>
          <a:noFill/>
        </p:spPr>
        <p:txBody>
          <a:bodyPr wrap="square" lIns="0" rIns="0" tIns="0" bIns="0">
            <a:spAutoFit/>
          </a:bodyPr>
          <a:lstStyle/>
          <a:p>
            <a:r>
              <a:rPr sz="1300" b="0">
                <a:solidFill>
                  <a:srgbClr val="5C6B77"/>
                </a:solidFill>
                <a:latin typeface="Calibri"/>
              </a:rPr>
              <a:t>/api was sized so in-flight concurrency landed on Tomcat's 200 threads, which made it decisive about platform threads. These two are four to five times past that, so the scarce resource is no longer a worker to run the request on — it is whatever the stack must keep alive while nothing happens. No database is involved, so the connection pool cannot explain anything here. mvc-platform is excluded by arithmetic: 200 threads over an 800 ms hold is 250 rps, below the bottom rung.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37744"/>
          </a:xfrm>
          <a:prstGeom prst="rect">
            <a:avLst/>
          </a:prstGeom>
          <a:noFill/>
        </p:spPr>
        <p:txBody>
          <a:bodyPr wrap="square" lIns="0" rIns="0" tIns="0" bIns="0">
            <a:spAutoFit/>
          </a:bodyPr>
          <a:lstStyle/>
          <a:p>
            <a:r>
              <a:rPr sz="1100" b="1">
                <a:solidFill>
                  <a:srgbClr val="5C6B77"/>
                </a:solidFill>
                <a:latin typeface="Calibri"/>
              </a:rPr>
              <a:t>RESULTS · CAPACITY</a:t>
            </a:r>
          </a:p>
        </p:txBody>
      </p:sp>
      <p:sp>
        <p:nvSpPr>
          <p:cNvPr id="3" name="TextBox 2"/>
          <p:cNvSpPr txBox="1"/>
          <p:nvPr/>
        </p:nvSpPr>
        <p:spPr>
          <a:xfrm>
            <a:off x="594360" y="603504"/>
            <a:ext cx="10972800" cy="731520"/>
          </a:xfrm>
          <a:prstGeom prst="rect">
            <a:avLst/>
          </a:prstGeom>
          <a:noFill/>
        </p:spPr>
        <p:txBody>
          <a:bodyPr wrap="square" lIns="0" rIns="0" tIns="0" bIns="0">
            <a:spAutoFit/>
          </a:bodyPr>
          <a:lstStyle/>
          <a:p>
            <a:r>
              <a:rPr sz="2900" b="1">
                <a:solidFill>
                  <a:srgbClr val="1F2933"/>
                </a:solidFill>
                <a:latin typeface="Cambria"/>
              </a:rPr>
              <a:t>Both builds held 2,000 in flight. Neither hit a ceiling.</a:t>
            </a:r>
          </a:p>
        </p:txBody>
      </p:sp>
      <p:graphicFrame>
        <p:nvGraphicFramePr>
          <p:cNvPr id="4" name="Table 3"/>
          <p:cNvGraphicFramePr>
            <a:graphicFrameLocks noGrp="1"/>
          </p:cNvGraphicFramePr>
          <p:nvPr/>
        </p:nvGraphicFramePr>
        <p:xfrm>
          <a:off x="594360" y="1417320"/>
          <a:ext cx="10972800" cy="2263140"/>
        </p:xfrm>
        <a:graphic>
          <a:graphicData uri="http://schemas.openxmlformats.org/drawingml/2006/table">
            <a:tbl>
              <a:tblPr/>
              <a:tblGrid>
                <a:gridCol w="1554480"/>
                <a:gridCol w="1371600"/>
                <a:gridCol w="1645920"/>
                <a:gridCol w="3200400"/>
                <a:gridCol w="3200400"/>
              </a:tblGrid>
              <a:tr h="251460">
                <a:tc>
                  <a:txBody>
                    <a:bodyPr wrap="none"/>
                    <a:lstStyle/>
                    <a:p>
                      <a:pPr algn="l"/>
                      <a:r>
                        <a:rPr sz="1100" b="1">
                          <a:solidFill>
                            <a:srgbClr val="1F2933"/>
                          </a:solidFill>
                          <a:latin typeface="Calibri"/>
                        </a:rPr>
                        <a:t>workload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offered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expected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webflux  (rep 1 / rep 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virtual  (rep 1 / rep 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400 / 400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400 / 400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 / 801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802 / 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1,202 / 1,201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1,204 / 1,205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1,602 / 1,601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1,617 / 1,604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500 / 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502 / 501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 / 1,001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1,002 / 1,001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1,501 / 1,501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1,503 / 1,502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2,001 / 2,003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2,009 / 2,011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bl>
          </a:graphicData>
        </a:graphic>
      </p:graphicFrame>
      <p:sp>
        <p:nvSpPr>
          <p:cNvPr id="5" name="TextBox 4"/>
          <p:cNvSpPr txBox="1"/>
          <p:nvPr/>
        </p:nvSpPr>
        <p:spPr>
          <a:xfrm>
            <a:off x="594360" y="3881628"/>
            <a:ext cx="10972800" cy="822960"/>
          </a:xfrm>
          <a:prstGeom prst="rect">
            <a:avLst/>
          </a:prstGeom>
          <a:noFill/>
        </p:spPr>
        <p:txBody>
          <a:bodyPr wrap="square" lIns="0" rIns="0" tIns="0" bIns="0">
            <a:spAutoFit/>
          </a:bodyPr>
          <a:lstStyle/>
          <a:p>
            <a:r>
              <a:rPr sz="1300" b="0">
                <a:solidFill>
                  <a:srgbClr val="5C6B77"/>
                </a:solidFill>
                <a:latin typeface="Calibri"/>
              </a:rPr>
              <a:t>Measured on the server every 2 s during the run, not inferred. Both builds track Little's Law (rate × latency) to within 1 % at every rung, with 0 dropped iterations and 0.00 % errors in all 32 cells. Because neither build saturated, this run does not establish where either one stops — these are points on a curve, not a knee.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37744"/>
          </a:xfrm>
          <a:prstGeom prst="rect">
            <a:avLst/>
          </a:prstGeom>
          <a:noFill/>
        </p:spPr>
        <p:txBody>
          <a:bodyPr wrap="square" lIns="0" rIns="0" tIns="0" bIns="0">
            <a:spAutoFit/>
          </a:bodyPr>
          <a:lstStyle/>
          <a:p>
            <a:r>
              <a:rPr sz="1100" b="1">
                <a:solidFill>
                  <a:srgbClr val="5C6B77"/>
                </a:solidFill>
                <a:latin typeface="Calibri"/>
              </a:rPr>
              <a:t>RESULTS · LATENCY</a:t>
            </a:r>
          </a:p>
        </p:txBody>
      </p:sp>
      <p:sp>
        <p:nvSpPr>
          <p:cNvPr id="3" name="TextBox 2"/>
          <p:cNvSpPr txBox="1"/>
          <p:nvPr/>
        </p:nvSpPr>
        <p:spPr>
          <a:xfrm>
            <a:off x="594360" y="603504"/>
            <a:ext cx="10972800" cy="731520"/>
          </a:xfrm>
          <a:prstGeom prst="rect">
            <a:avLst/>
          </a:prstGeom>
          <a:noFill/>
        </p:spPr>
        <p:txBody>
          <a:bodyPr wrap="square" lIns="0" rIns="0" tIns="0" bIns="0">
            <a:spAutoFit/>
          </a:bodyPr>
          <a:lstStyle/>
          <a:p>
            <a:r>
              <a:rPr sz="2900" b="1">
                <a:solidFill>
                  <a:srgbClr val="1F2933"/>
                </a:solidFill>
                <a:latin typeface="Cambria"/>
              </a:rPr>
              <a:t>p50 is the delay itself. The difference is all tail.</a:t>
            </a:r>
          </a:p>
        </p:txBody>
      </p:sp>
      <p:graphicFrame>
        <p:nvGraphicFramePr>
          <p:cNvPr id="4" name="Table 3"/>
          <p:cNvGraphicFramePr>
            <a:graphicFrameLocks noGrp="1"/>
          </p:cNvGraphicFramePr>
          <p:nvPr/>
        </p:nvGraphicFramePr>
        <p:xfrm>
          <a:off x="594360" y="1417320"/>
          <a:ext cx="10972800" cy="2263140"/>
        </p:xfrm>
        <a:graphic>
          <a:graphicData uri="http://schemas.openxmlformats.org/drawingml/2006/table">
            <a:tbl>
              <a:tblPr/>
              <a:tblGrid>
                <a:gridCol w="1371600"/>
                <a:gridCol w="1097280"/>
                <a:gridCol w="1737360"/>
                <a:gridCol w="1463040"/>
                <a:gridCol w="1737360"/>
                <a:gridCol w="1463040"/>
                <a:gridCol w="2103120"/>
              </a:tblGrid>
              <a:tr h="251460">
                <a:tc>
                  <a:txBody>
                    <a:bodyPr wrap="none"/>
                    <a:lstStyle/>
                    <a:p>
                      <a:pPr algn="l"/>
                      <a:r>
                        <a:rPr sz="1100" b="1">
                          <a:solidFill>
                            <a:srgbClr val="1F2933"/>
                          </a:solidFill>
                          <a:latin typeface="Calibri"/>
                        </a:rPr>
                        <a:t>workload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offered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webflux p99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over floor</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virtual p99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over floor</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ratio</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802 / 802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 / +2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826 / 803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+26 / +3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7.6x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809 / 809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+9 / +9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864 / 863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+64 / +63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7.2x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815 / 814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 / +14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880 / 877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 / +77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5.5x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822 / 822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+22 / +22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886 / 886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+86 / +86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3.8x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1,002 / 1,002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 / +2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1,023 / 1,002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+23 / +2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1,010 / 1,011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 / +11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1,065 / 1,067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+65 / +67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6.4x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1,020 / 1,020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 / +20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1,080 / 1,080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 / +80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4.1x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1,031 / 1,029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+31 / +29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1,087 / 1,083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+87 / +83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2.9x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bl>
          </a:graphicData>
        </a:graphic>
      </p:graphicFrame>
      <p:sp>
        <p:nvSpPr>
          <p:cNvPr id="5" name="TextBox 4"/>
          <p:cNvSpPr txBox="1"/>
          <p:nvPr/>
        </p:nvSpPr>
        <p:spPr>
          <a:xfrm>
            <a:off x="594360" y="3881628"/>
            <a:ext cx="10972800" cy="822960"/>
          </a:xfrm>
          <a:prstGeom prst="rect">
            <a:avLst/>
          </a:prstGeom>
          <a:noFill/>
        </p:spPr>
        <p:txBody>
          <a:bodyPr wrap="square" lIns="0" rIns="0" tIns="0" bIns="0">
            <a:spAutoFit/>
          </a:bodyPr>
          <a:lstStyle/>
          <a:p>
            <a:r>
              <a:rPr sz="1300" b="0">
                <a:solidFill>
                  <a:srgbClr val="5C6B77"/>
                </a:solidFill>
                <a:latin typeface="Calibri"/>
              </a:rPr>
              <a:t>Both repetitions shown. p50 is 800.5–800.9 ms and 1000.5–1000.9 ms on both builds at every rate: half of all requests pay nothing above the wait, whichever stack serves them. 'Over floor' is p99 minus the upstream delay — the part the application added. At 500 rps both builds sit close enough to the floor that rep-to-rep noise dominates, which is why virtual posts +26 and +3 ms on the same cell.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37744"/>
          </a:xfrm>
          <a:prstGeom prst="rect">
            <a:avLst/>
          </a:prstGeom>
          <a:noFill/>
        </p:spPr>
        <p:txBody>
          <a:bodyPr wrap="square" lIns="0" rIns="0" tIns="0" bIns="0">
            <a:spAutoFit/>
          </a:bodyPr>
          <a:lstStyle/>
          <a:p>
            <a:r>
              <a:rPr sz="1100" b="1">
                <a:solidFill>
                  <a:srgbClr val="5C6B77"/>
                </a:solidFill>
                <a:latin typeface="Calibri"/>
              </a:rPr>
              <a:t>MECHANISM</a:t>
            </a:r>
          </a:p>
        </p:txBody>
      </p:sp>
      <p:sp>
        <p:nvSpPr>
          <p:cNvPr id="3" name="TextBox 2"/>
          <p:cNvSpPr txBox="1"/>
          <p:nvPr/>
        </p:nvSpPr>
        <p:spPr>
          <a:xfrm>
            <a:off x="594360" y="603504"/>
            <a:ext cx="10972800" cy="731520"/>
          </a:xfrm>
          <a:prstGeom prst="rect">
            <a:avLst/>
          </a:prstGeom>
          <a:noFill/>
        </p:spPr>
        <p:txBody>
          <a:bodyPr wrap="square" lIns="0" rIns="0" tIns="0" bIns="0">
            <a:spAutoFit/>
          </a:bodyPr>
          <a:lstStyle/>
          <a:p>
            <a:r>
              <a:rPr sz="2900" b="1">
                <a:solidFill>
                  <a:srgbClr val="1F2933"/>
                </a:solidFill>
                <a:latin typeface="Cambria"/>
              </a:rPr>
              <a:t>The tail follows rate. The heap follows in-flight.</a:t>
            </a:r>
          </a:p>
        </p:txBody>
      </p:sp>
      <p:graphicFrame>
        <p:nvGraphicFramePr>
          <p:cNvPr id="4" name="Table 3"/>
          <p:cNvGraphicFramePr>
            <a:graphicFrameLocks noGrp="1"/>
          </p:cNvGraphicFramePr>
          <p:nvPr/>
        </p:nvGraphicFramePr>
        <p:xfrm>
          <a:off x="594360" y="1417320"/>
          <a:ext cx="10972800" cy="2263140"/>
        </p:xfrm>
        <a:graphic>
          <a:graphicData uri="http://schemas.openxmlformats.org/drawingml/2006/table">
            <a:tbl>
              <a:tblPr/>
              <a:tblGrid>
                <a:gridCol w="1188720"/>
                <a:gridCol w="1371600"/>
                <a:gridCol w="1737360"/>
                <a:gridCol w="1463040"/>
                <a:gridCol w="1737360"/>
                <a:gridCol w="1463040"/>
                <a:gridCol w="2011680"/>
              </a:tblGrid>
              <a:tr h="251460">
                <a:tc>
                  <a:txBody>
                    <a:bodyPr wrap="none"/>
                    <a:lstStyle/>
                    <a:p>
                      <a:pPr algn="r"/>
                      <a:r>
                        <a:rPr sz="1100" b="1">
                          <a:solidFill>
                            <a:srgbClr val="1F2933"/>
                          </a:solidFill>
                          <a:latin typeface="Calibri"/>
                        </a:rPr>
                        <a:t>offered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1">
                          <a:solidFill>
                            <a:srgbClr val="1F2933"/>
                          </a:solidFill>
                          <a:latin typeface="Calibri"/>
                        </a:rPr>
                        <a:t>build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/api-800 p99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in flight</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/api-1000 p99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in flight</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change</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+14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+9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+64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+66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+2.5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+14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+5.4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+79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1,503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+1.3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+22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+30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+7.6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+86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+85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-0.4 ms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bl>
          </a:graphicData>
        </a:graphic>
      </p:graphicFrame>
      <p:sp>
        <p:nvSpPr>
          <p:cNvPr id="5" name="TextBox 4"/>
          <p:cNvSpPr txBox="1"/>
          <p:nvPr/>
        </p:nvSpPr>
        <p:spPr>
          <a:xfrm>
            <a:off x="594360" y="3881628"/>
            <a:ext cx="10972800" cy="822960"/>
          </a:xfrm>
          <a:prstGeom prst="rect">
            <a:avLst/>
          </a:prstGeom>
          <a:noFill/>
        </p:spPr>
        <p:txBody>
          <a:bodyPr wrap="square" lIns="0" rIns="0" tIns="0" bIns="0">
            <a:spAutoFit/>
          </a:bodyPr>
          <a:lstStyle/>
          <a:p>
            <a:r>
              <a:rPr sz="1200" b="0">
                <a:solidFill>
                  <a:srgbClr val="5C6B77"/>
                </a:solidFill>
                <a:latin typeface="Calibri"/>
              </a:rPr>
              <a:t>Rate and in-flight normally move together, so neither can be blamed from one workload. Two delays break the tie: at the same rate the two workloads sit at different in-flight counts. For virtual threads the tail does not follow concurrency at all — 25 % more in flight moves p99 by −2.0, +2.5, +1.3 and −0.4 ms, and the sign flips. Its ~86 ms tail is a per-request cost. WebFlux is not as clean: its last two pairs are +5.4 and +7.6 ms, about a third of its total, so above ~1,500 in flight it does pick up a concurrency term. Heap runs the other way — regressed on in-flight across all 16 cells, the floor rises 166 KB per request in flight for virtual threads against 26 KB for WebFlux (R² 0.66 and 0.59, so trends rather than tight fits).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37744"/>
          </a:xfrm>
          <a:prstGeom prst="rect">
            <a:avLst/>
          </a:prstGeom>
          <a:noFill/>
        </p:spPr>
        <p:txBody>
          <a:bodyPr wrap="square" lIns="0" rIns="0" tIns="0" bIns="0">
            <a:spAutoFit/>
          </a:bodyPr>
          <a:lstStyle/>
          <a:p>
            <a:r>
              <a:rPr sz="1100" b="1">
                <a:solidFill>
                  <a:srgbClr val="5C6B77"/>
                </a:solidFill>
                <a:latin typeface="Calibri"/>
              </a:rPr>
              <a:t>RESOURCES · CPU</a:t>
            </a:r>
          </a:p>
        </p:txBody>
      </p:sp>
      <p:sp>
        <p:nvSpPr>
          <p:cNvPr id="3" name="TextBox 2"/>
          <p:cNvSpPr txBox="1"/>
          <p:nvPr/>
        </p:nvSpPr>
        <p:spPr>
          <a:xfrm>
            <a:off x="594360" y="603504"/>
            <a:ext cx="10972800" cy="731520"/>
          </a:xfrm>
          <a:prstGeom prst="rect">
            <a:avLst/>
          </a:prstGeom>
          <a:noFill/>
        </p:spPr>
        <p:txBody>
          <a:bodyPr wrap="square" lIns="0" rIns="0" tIns="0" bIns="0">
            <a:spAutoFit/>
          </a:bodyPr>
          <a:lstStyle/>
          <a:p>
            <a:r>
              <a:rPr sz="2900" b="1">
                <a:solidFill>
                  <a:srgbClr val="1F2933"/>
                </a:solidFill>
                <a:latin typeface="Cambria"/>
              </a:rPr>
              <a:t>Virtual threads cost about twice the CPU</a:t>
            </a:r>
          </a:p>
        </p:txBody>
      </p:sp>
      <p:graphicFrame>
        <p:nvGraphicFramePr>
          <p:cNvPr id="4" name="Table 3"/>
          <p:cNvGraphicFramePr>
            <a:graphicFrameLocks noGrp="1"/>
          </p:cNvGraphicFramePr>
          <p:nvPr/>
        </p:nvGraphicFramePr>
        <p:xfrm>
          <a:off x="594360" y="1417320"/>
          <a:ext cx="10972800" cy="2263140"/>
        </p:xfrm>
        <a:graphic>
          <a:graphicData uri="http://schemas.openxmlformats.org/drawingml/2006/table">
            <a:tbl>
              <a:tblPr/>
              <a:tblGrid>
                <a:gridCol w="1645920"/>
                <a:gridCol w="1463040"/>
                <a:gridCol w="3017520"/>
                <a:gridCol w="3017520"/>
                <a:gridCol w="1828800"/>
              </a:tblGrid>
              <a:tr h="251460">
                <a:tc>
                  <a:txBody>
                    <a:bodyPr wrap="none"/>
                    <a:lstStyle/>
                    <a:p>
                      <a:pPr algn="l"/>
                      <a:r>
                        <a:rPr sz="1100" b="1">
                          <a:solidFill>
                            <a:srgbClr val="1F2933"/>
                          </a:solidFill>
                          <a:latin typeface="Calibri"/>
                        </a:rPr>
                        <a:t>workload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offered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webflux  (rep 1 / rep 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virtual  (rep 1 / rep 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ratio</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0.112 / 0.082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0.147 / 0.104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1.3x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0.115 / 0.121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0.158 / 0.158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1.3x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0.142 / 0.142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0.226 / 0.228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0.142 / 0.165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0.299 / 0.308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0.080 / 0.079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0.103 / 0.097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1.3x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0.119 / 0.118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0.164 / 0.163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1.4x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0.145 / 0.144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0.229 / 0.233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/api-1000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0.164 / 0.168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0.332 / 0.340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bl>
          </a:graphicData>
        </a:graphic>
      </p:graphicFrame>
      <p:sp>
        <p:nvSpPr>
          <p:cNvPr id="5" name="TextBox 4"/>
          <p:cNvSpPr txBox="1"/>
          <p:nvPr/>
        </p:nvSpPr>
        <p:spPr>
          <a:xfrm>
            <a:off x="594360" y="3881628"/>
            <a:ext cx="10972800" cy="822960"/>
          </a:xfrm>
          <a:prstGeom prst="rect">
            <a:avLst/>
          </a:prstGeom>
          <a:noFill/>
        </p:spPr>
        <p:txBody>
          <a:bodyPr wrap="square" lIns="0" rIns="0" tIns="0" bIns="0">
            <a:spAutoFit/>
          </a:bodyPr>
          <a:lstStyle/>
          <a:p>
            <a:r>
              <a:rPr sz="1300" b="0">
                <a:solidFill>
                  <a:srgbClr val="5C6B77"/>
                </a:solidFill>
                <a:latin typeface="Calibri"/>
              </a:rPr>
              <a:t>Cores of the 2 available, averaged over the steady-state samples and shown for both repetitions. The ratio holds near 2× across the top of the ladder on both workloads. Neither build is close to saturating the box — the most expensive cell used 0.34 of 2 cores — so this is a cost difference at these rates, not a throughput limit.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37744"/>
          </a:xfrm>
          <a:prstGeom prst="rect">
            <a:avLst/>
          </a:prstGeom>
          <a:noFill/>
        </p:spPr>
        <p:txBody>
          <a:bodyPr wrap="square" lIns="0" rIns="0" tIns="0" bIns="0">
            <a:spAutoFit/>
          </a:bodyPr>
          <a:lstStyle/>
          <a:p>
            <a:r>
              <a:rPr sz="1100" b="1">
                <a:solidFill>
                  <a:srgbClr val="5C6B77"/>
                </a:solidFill>
                <a:latin typeface="Calibri"/>
              </a:rPr>
              <a:t>RESOURCES · MEMORY</a:t>
            </a:r>
          </a:p>
        </p:txBody>
      </p:sp>
      <p:sp>
        <p:nvSpPr>
          <p:cNvPr id="3" name="TextBox 2"/>
          <p:cNvSpPr txBox="1"/>
          <p:nvPr/>
        </p:nvSpPr>
        <p:spPr>
          <a:xfrm>
            <a:off x="594360" y="603504"/>
            <a:ext cx="10972800" cy="731520"/>
          </a:xfrm>
          <a:prstGeom prst="rect">
            <a:avLst/>
          </a:prstGeom>
          <a:noFill/>
        </p:spPr>
        <p:txBody>
          <a:bodyPr wrap="square" lIns="0" rIns="0" tIns="0" bIns="0">
            <a:spAutoFit/>
          </a:bodyPr>
          <a:lstStyle/>
          <a:p>
            <a:r>
              <a:rPr sz="2900" b="1">
                <a:solidFill>
                  <a:srgbClr val="1F2933"/>
                </a:solidFill>
                <a:latin typeface="Cambria"/>
              </a:rPr>
              <a:t>Opposite memory profiles</a:t>
            </a:r>
          </a:p>
        </p:txBody>
      </p:sp>
      <p:graphicFrame>
        <p:nvGraphicFramePr>
          <p:cNvPr id="4" name="Table 3"/>
          <p:cNvGraphicFramePr>
            <a:graphicFrameLocks noGrp="1"/>
          </p:cNvGraphicFramePr>
          <p:nvPr/>
        </p:nvGraphicFramePr>
        <p:xfrm>
          <a:off x="594360" y="1417320"/>
          <a:ext cx="10972800" cy="2011680"/>
        </p:xfrm>
        <a:graphic>
          <a:graphicData uri="http://schemas.openxmlformats.org/drawingml/2006/table">
            <a:tbl>
              <a:tblPr/>
              <a:tblGrid>
                <a:gridCol w="3657600"/>
                <a:gridCol w="1828800"/>
                <a:gridCol w="1828800"/>
                <a:gridCol w="1828800"/>
                <a:gridCol w="1828800"/>
              </a:tblGrid>
              <a:tr h="251460">
                <a:tc>
                  <a:txBody>
                    <a:bodyPr wrap="none"/>
                    <a:lstStyle/>
                    <a:p>
                      <a:pPr algn="l"/>
                      <a:r>
                        <a:rPr sz="1100" b="1">
                          <a:solidFill>
                            <a:srgbClr val="1F2933"/>
                          </a:solidFill>
                          <a:latin typeface="Calibri"/>
                        </a:rPr>
                        <a:t>at 2,000 rps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webflux /api-800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/api-1000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virtual /api-800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/api-1000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Allocation per 1,000 requests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39 MB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39 MB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63 MB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65 MB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Promoted to old gen, per request</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 KB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 KB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 KB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6.8 KB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Heap floor under load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64 MB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89 MB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483 MB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529 MB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GC pause in the 120 s window</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0.5 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0.6 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3.6 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4.5 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GC collections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Platform threads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115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l"/>
                      <a:r>
                        <a:rPr sz="1100" b="0">
                          <a:solidFill>
                            <a:srgbClr val="1F2933"/>
                          </a:solidFill>
                          <a:latin typeface="Calibri"/>
                        </a:rPr>
                        <a:t>Heap floor per request in flight (regressed)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26 KB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R² 0.59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166 KB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R² 0.66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bl>
          </a:graphicData>
        </a:graphic>
      </p:graphicFrame>
      <p:sp>
        <p:nvSpPr>
          <p:cNvPr id="5" name="TextBox 4"/>
          <p:cNvSpPr txBox="1"/>
          <p:nvPr/>
        </p:nvSpPr>
        <p:spPr>
          <a:xfrm>
            <a:off x="594360" y="3630168"/>
            <a:ext cx="10972800" cy="822960"/>
          </a:xfrm>
          <a:prstGeom prst="rect">
            <a:avLst/>
          </a:prstGeom>
          <a:noFill/>
        </p:spPr>
        <p:txBody>
          <a:bodyPr wrap="square" lIns="0" rIns="0" tIns="0" bIns="0">
            <a:spAutoFit/>
          </a:bodyPr>
          <a:lstStyle/>
          <a:p>
            <a:r>
              <a:rPr sz="1200" b="0">
                <a:solidFill>
                  <a:srgbClr val="5C6B77"/>
                </a:solidFill>
                <a:latin typeface="Calibri"/>
              </a:rPr>
              <a:t>Allocation and promotion are counters differenced across the window, so they are exact. Heap floor is the lowest reading while under load — heap used sawtooths with GC, so its mean would mix retained state with uncollected garbage. Promotion is the mechanism: a request waiting a second outlives a young collection, so under virtual threads its stack is still reachable when the collector runs and is moved to the old generation. WebFlux's promotion never exceeds 0.20 KB per request and is under 0.03 KB in 15 of its 16 cells. Platform threads counted here exclude virtual threads, so for virtual the figure is ForkJoinPool carriers plus Tomcat; WebFlux sits at 21 in fifteen of sixteen cells and 22.7 in the sixteenth, regardless of rate or concurrency.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37744"/>
          </a:xfrm>
          <a:prstGeom prst="rect">
            <a:avLst/>
          </a:prstGeom>
          <a:noFill/>
        </p:spPr>
        <p:txBody>
          <a:bodyPr wrap="square" lIns="0" rIns="0" tIns="0" bIns="0">
            <a:spAutoFit/>
          </a:bodyPr>
          <a:lstStyle/>
          <a:p>
            <a:r>
              <a:rPr sz="1100" b="1">
                <a:solidFill>
                  <a:srgbClr val="5C6B77"/>
                </a:solidFill>
                <a:latin typeface="Calibri"/>
              </a:rPr>
              <a:t>LIMITS</a:t>
            </a:r>
          </a:p>
        </p:txBody>
      </p:sp>
      <p:sp>
        <p:nvSpPr>
          <p:cNvPr id="3" name="TextBox 2"/>
          <p:cNvSpPr txBox="1"/>
          <p:nvPr/>
        </p:nvSpPr>
        <p:spPr>
          <a:xfrm>
            <a:off x="594360" y="603504"/>
            <a:ext cx="10972800" cy="731520"/>
          </a:xfrm>
          <a:prstGeom prst="rect">
            <a:avLst/>
          </a:prstGeom>
          <a:noFill/>
        </p:spPr>
        <p:txBody>
          <a:bodyPr wrap="square" lIns="0" rIns="0" tIns="0" bIns="0">
            <a:spAutoFit/>
          </a:bodyPr>
          <a:lstStyle/>
          <a:p>
            <a:r>
              <a:rPr sz="2900" b="1">
                <a:solidFill>
                  <a:srgbClr val="1F2933"/>
                </a:solidFill>
                <a:latin typeface="Cambria"/>
              </a:rPr>
              <a:t>What this run does not establish</a:t>
            </a:r>
          </a:p>
        </p:txBody>
      </p:sp>
      <p:sp>
        <p:nvSpPr>
          <p:cNvPr id="4" name="TextBox 3"/>
          <p:cNvSpPr txBox="1"/>
          <p:nvPr/>
        </p:nvSpPr>
        <p:spPr>
          <a:xfrm>
            <a:off x="594360" y="1481328"/>
            <a:ext cx="10972800" cy="4754880"/>
          </a:xfrm>
          <a:prstGeom prst="rect">
            <a:avLst/>
          </a:prstGeom>
          <a:noFill/>
        </p:spPr>
        <p:txBody>
          <a:bodyPr wrap="square" lIns="0" rIns="0" tIns="0" bIns="0">
            <a:spAutoFit/>
          </a:bodyPr>
          <a:lstStyle/>
          <a:p>
            <a:pPr>
              <a:spcBef>
                <a:spcPts val="400"/>
              </a:spcBef>
            </a:pPr>
            <a:r>
              <a:rPr sz="1300" b="0">
                <a:solidFill>
                  <a:srgbClr val="1F2933"/>
                </a:solidFill>
                <a:latin typeface="Calibri"/>
              </a:rPr>
              <a:t>The stub was not independently witnessed.</a:t>
            </a:r>
          </a:p>
          <a:p>
            <a:pPr>
              <a:spcBef>
                <a:spcPts val="400"/>
              </a:spcBef>
            </a:pPr>
            <a:r>
              <a:rPr sz="1300" b="0">
                <a:solidFill>
                  <a:srgbClr val="1F2933"/>
                </a:solidFill>
                <a:latin typeface="Calibri"/>
              </a:rPr>
              <a:t>    All 32 stub sample files recorded zeros throughout, so the stub's own in-flight, CPU and</a:t>
            </a:r>
          </a:p>
          <a:p>
            <a:pPr>
              <a:spcBef>
                <a:spcPts val="400"/>
              </a:spcBef>
            </a:pPr>
            <a:r>
              <a:rPr sz="1300" b="0">
                <a:solidFill>
                  <a:srgbClr val="1F2933"/>
                </a:solidFill>
                <a:latin typeface="Calibri"/>
              </a:rPr>
              <a:t>    file-descriptor counts are unavailable for this run. The likely cause is that the previous stub</a:t>
            </a:r>
          </a:p>
          <a:p>
            <a:pPr>
              <a:spcBef>
                <a:spcPts val="400"/>
              </a:spcBef>
            </a:pPr>
            <a:r>
              <a:rPr sz="1300" b="0">
                <a:solidFill>
                  <a:srgbClr val="1F2933"/>
                </a:solidFill>
                <a:latin typeface="Calibri"/>
              </a:rPr>
              <a:t>    build was still running — stub.sh start returns early when one is alive, so a re-upload without</a:t>
            </a:r>
          </a:p>
          <a:p>
            <a:pPr>
              <a:spcBef>
                <a:spcPts val="400"/>
              </a:spcBef>
            </a:pPr>
            <a:r>
              <a:rPr sz="1300" b="0">
                <a:solidFill>
                  <a:srgbClr val="1F2933"/>
                </a:solidFill>
                <a:latin typeface="Calibri"/>
              </a:rPr>
              <a:t>    restart keeps the old process, which exposed only health and not prometheus. Whether the stub</a:t>
            </a:r>
          </a:p>
          <a:p>
            <a:pPr>
              <a:spcBef>
                <a:spcPts val="400"/>
              </a:spcBef>
            </a:pPr>
            <a:r>
              <a:rPr sz="1300" b="0">
                <a:solidFill>
                  <a:srgbClr val="1F2933"/>
                </a:solidFill>
                <a:latin typeface="Calibri"/>
              </a:rPr>
              <a:t>    stayed clear of its own limits during these cells is simply not established by measurement.</a:t>
            </a:r>
          </a:p>
          <a:p>
            <a:pPr>
              <a:spcBef>
                <a:spcPts val="400"/>
              </a:spcBef>
            </a:pPr>
            <a:r>
              <a:rPr sz="1300" b="0">
                <a:solidFill>
                  <a:srgbClr val="1F2933"/>
                </a:solidFill>
                <a:latin typeface="Calibri"/>
              </a:rPr>
              <a:t/>
            </a:r>
          </a:p>
          <a:p>
            <a:pPr>
              <a:spcBef>
                <a:spcPts val="400"/>
              </a:spcBef>
            </a:pPr>
            <a:r>
              <a:rPr sz="1300" b="0">
                <a:solidFill>
                  <a:srgbClr val="1F2933"/>
                </a:solidFill>
                <a:latin typeface="Calibri"/>
              </a:rPr>
              <a:t>No ceiling was found.</a:t>
            </a:r>
          </a:p>
          <a:p>
            <a:pPr>
              <a:spcBef>
                <a:spcPts val="400"/>
              </a:spcBef>
            </a:pPr>
            <a:r>
              <a:rPr sz="1300" b="0">
                <a:solidFill>
                  <a:srgbClr val="1F2933"/>
                </a:solidFill>
                <a:latin typeface="Calibri"/>
              </a:rPr>
              <a:t>    Neither build saturated, so nothing here says where either one stops. Extrapolating the heap</a:t>
            </a:r>
          </a:p>
          <a:p>
            <a:pPr>
              <a:spcBef>
                <a:spcPts val="400"/>
              </a:spcBef>
            </a:pPr>
            <a:r>
              <a:rPr sz="1300" b="0">
                <a:solidFill>
                  <a:srgbClr val="1F2933"/>
                </a:solidFill>
                <a:latin typeface="Calibri"/>
              </a:rPr>
              <a:t>    slope past 2,000 requests in flight would be unsupported.</a:t>
            </a:r>
          </a:p>
          <a:p>
            <a:pPr>
              <a:spcBef>
                <a:spcPts val="400"/>
              </a:spcBef>
            </a:pPr>
            <a:r>
              <a:rPr sz="1300" b="0">
                <a:solidFill>
                  <a:srgbClr val="1F2933"/>
                </a:solidFill>
                <a:latin typeface="Calibri"/>
              </a:rPr>
              <a:t/>
            </a:r>
          </a:p>
          <a:p>
            <a:pPr>
              <a:spcBef>
                <a:spcPts val="400"/>
              </a:spcBef>
            </a:pPr>
            <a:r>
              <a:rPr sz="1300" b="0">
                <a:solidFill>
                  <a:srgbClr val="1F2933"/>
                </a:solidFill>
                <a:latin typeface="Calibri"/>
              </a:rPr>
              <a:t>One configuration.</a:t>
            </a:r>
          </a:p>
          <a:p>
            <a:pPr>
              <a:spcBef>
                <a:spcPts val="400"/>
              </a:spcBef>
            </a:pPr>
            <a:r>
              <a:rPr sz="1300" b="0">
                <a:solidFill>
                  <a:srgbClr val="1F2933"/>
                </a:solidFill>
                <a:latin typeface="Calibri"/>
              </a:rPr>
              <a:t>    c7i.large, 2 vCPU, 1 GB heap, G1, one pool size, one upstream. The heap size interacts directly</a:t>
            </a:r>
          </a:p>
          <a:p>
            <a:pPr>
              <a:spcBef>
                <a:spcPts val="400"/>
              </a:spcBef>
            </a:pPr>
            <a:r>
              <a:rPr sz="1300" b="0">
                <a:solidFill>
                  <a:srgbClr val="1F2933"/>
                </a:solidFill>
                <a:latin typeface="Calibri"/>
              </a:rPr>
              <a:t>    with the promotion finding: a larger heap changes collection frequency, and with it both the</a:t>
            </a:r>
          </a:p>
          <a:p>
            <a:pPr>
              <a:spcBef>
                <a:spcPts val="400"/>
              </a:spcBef>
            </a:pPr>
            <a:r>
              <a:rPr sz="1300" b="0">
                <a:solidFill>
                  <a:srgbClr val="1F2933"/>
                </a:solidFill>
                <a:latin typeface="Calibri"/>
              </a:rPr>
              <a:t>    pause totals and the heap floor.</a:t>
            </a:r>
          </a:p>
          <a:p>
            <a:pPr>
              <a:spcBef>
                <a:spcPts val="400"/>
              </a:spcBef>
            </a:pPr>
            <a:r>
              <a:rPr sz="1300" b="0">
                <a:solidFill>
                  <a:srgbClr val="1F2933"/>
                </a:solidFill>
                <a:latin typeface="Calibri"/>
              </a:rPr>
              <a:t/>
            </a:r>
          </a:p>
          <a:p>
            <a:pPr>
              <a:spcBef>
                <a:spcPts val="400"/>
              </a:spcBef>
            </a:pPr>
            <a:r>
              <a:rPr sz="1300" b="0">
                <a:solidFill>
                  <a:srgbClr val="1F2933"/>
                </a:solidFill>
                <a:latin typeface="Calibri"/>
              </a:rPr>
              <a:t>Carrier growth is unexplained.</a:t>
            </a:r>
          </a:p>
          <a:p>
            <a:pPr>
              <a:spcBef>
                <a:spcPts val="400"/>
              </a:spcBef>
            </a:pPr>
            <a:r>
              <a:rPr sz="1300" b="0">
                <a:solidFill>
                  <a:srgbClr val="1F2933"/>
                </a:solidFill>
                <a:latin typeface="Calibri"/>
              </a:rPr>
              <a:t>    Virtual threads reached ~130 carrier threads on a 2-core box. That is visible in the data but its</a:t>
            </a:r>
          </a:p>
          <a:p>
            <a:pPr>
              <a:spcBef>
                <a:spcPts val="400"/>
              </a:spcBef>
            </a:pPr>
            <a:r>
              <a:rPr sz="1300" b="0">
                <a:solidFill>
                  <a:srgbClr val="1F2933"/>
                </a:solidFill>
                <a:latin typeface="Calibri"/>
              </a:rPr>
              <a:t>    cause is not; a thread dump under load would settle it, and nothing here does.</a:t>
            </a:r>
          </a:p>
          <a:p>
            <a:pPr>
              <a:spcBef>
                <a:spcPts val="400"/>
              </a:spcBef>
            </a:pPr>
            <a:r>
              <a:rPr sz="1300" b="0">
                <a:solidFill>
                  <a:srgbClr val="1F2933"/>
                </a:solidFill>
                <a:latin typeface="Calibri"/>
              </a:rPr>
              <a:t/>
            </a:r>
          </a:p>
          <a:p>
            <a:pPr>
              <a:spcBef>
                <a:spcPts val="400"/>
              </a:spcBef>
            </a:pPr>
            <a:r>
              <a:rPr sz="1300" b="0">
                <a:solidFill>
                  <a:srgbClr val="1F2933"/>
                </a:solidFill>
                <a:latin typeface="Calibri"/>
              </a:rPr>
              <a:t>Platform threads are absent by construction.</a:t>
            </a:r>
          </a:p>
          <a:p>
            <a:pPr>
              <a:spcBef>
                <a:spcPts val="400"/>
              </a:spcBef>
            </a:pPr>
            <a:r>
              <a:rPr sz="1300" b="0">
                <a:solidFill>
                  <a:srgbClr val="1F2933"/>
                </a:solidFill>
                <a:latin typeface="Calibri"/>
              </a:rPr>
              <a:t>    This run says nothing about mvc-platform on long waits beyond the arithmetic that excluded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37744"/>
          </a:xfrm>
          <a:prstGeom prst="rect">
            <a:avLst/>
          </a:prstGeom>
          <a:noFill/>
        </p:spPr>
        <p:txBody>
          <a:bodyPr wrap="square" lIns="0" rIns="0" tIns="0" bIns="0">
            <a:spAutoFit/>
          </a:bodyPr>
          <a:lstStyle/>
          <a:p>
            <a:r>
              <a:rPr sz="1100" b="1">
                <a:solidFill>
                  <a:srgbClr val="5C6B77"/>
                </a:solidFill>
                <a:latin typeface="Calibri"/>
              </a:rPr>
              <a:t>APPENDIX · ALL CELLS</a:t>
            </a:r>
          </a:p>
        </p:txBody>
      </p:sp>
      <p:sp>
        <p:nvSpPr>
          <p:cNvPr id="3" name="TextBox 2"/>
          <p:cNvSpPr txBox="1"/>
          <p:nvPr/>
        </p:nvSpPr>
        <p:spPr>
          <a:xfrm>
            <a:off x="594360" y="603504"/>
            <a:ext cx="10972800" cy="731520"/>
          </a:xfrm>
          <a:prstGeom prst="rect">
            <a:avLst/>
          </a:prstGeom>
          <a:noFill/>
        </p:spPr>
        <p:txBody>
          <a:bodyPr wrap="square" lIns="0" rIns="0" tIns="0" bIns="0">
            <a:spAutoFit/>
          </a:bodyPr>
          <a:lstStyle/>
          <a:p>
            <a:r>
              <a:rPr sz="2900" b="1">
                <a:solidFill>
                  <a:srgbClr val="1F2933"/>
                </a:solidFill>
                <a:latin typeface="Cambria"/>
              </a:rPr>
              <a:t>/api-800 — every cell</a:t>
            </a:r>
          </a:p>
        </p:txBody>
      </p:sp>
      <p:graphicFrame>
        <p:nvGraphicFramePr>
          <p:cNvPr id="4" name="Table 3"/>
          <p:cNvGraphicFramePr>
            <a:graphicFrameLocks noGrp="1"/>
          </p:cNvGraphicFramePr>
          <p:nvPr/>
        </p:nvGraphicFramePr>
        <p:xfrm>
          <a:off x="594360" y="1417320"/>
          <a:ext cx="10972800" cy="4274820"/>
        </p:xfrm>
        <a:graphic>
          <a:graphicData uri="http://schemas.openxmlformats.org/drawingml/2006/table">
            <a:tbl>
              <a:tblPr/>
              <a:tblGrid>
                <a:gridCol w="822960"/>
                <a:gridCol w="960120"/>
                <a:gridCol w="502920"/>
                <a:gridCol w="731520"/>
                <a:gridCol w="914400"/>
                <a:gridCol w="914400"/>
                <a:gridCol w="914400"/>
                <a:gridCol w="1005840"/>
                <a:gridCol w="868680"/>
                <a:gridCol w="1051560"/>
                <a:gridCol w="822960"/>
                <a:gridCol w="822960"/>
                <a:gridCol w="640080"/>
              </a:tblGrid>
              <a:tr h="251460">
                <a:tc>
                  <a:txBody>
                    <a:bodyPr wrap="none"/>
                    <a:lstStyle/>
                    <a:p>
                      <a:pPr algn="r"/>
                      <a:r>
                        <a:rPr sz="1100" b="1">
                          <a:solidFill>
                            <a:srgbClr val="1F2933"/>
                          </a:solidFill>
                          <a:latin typeface="Calibri"/>
                        </a:rPr>
                        <a:t>rate</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1">
                          <a:solidFill>
                            <a:srgbClr val="1F2933"/>
                          </a:solidFill>
                          <a:latin typeface="Calibri"/>
                        </a:rPr>
                        <a:t>build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rep</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err %</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p50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p95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p99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in flight</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cores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heap floor</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MB/1k</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promKB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GC 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0.112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0.082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826.2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0.147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181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802.8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451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808.9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0.115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808.9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0.121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864.3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0.158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356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863.2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0.158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380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1.48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814.7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0.142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813.8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0.142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813.6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880.3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0.226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418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2.39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812.7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877.0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1,205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0.228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2.38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822.2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0.142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0.53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822.5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0.165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0.52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829.3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886.0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1,617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0.299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492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3.51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800.6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832.4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885.8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0.308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475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3.62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bl>
          </a:graphicData>
        </a:graphic>
      </p:graphicFrame>
      <p:sp>
        <p:nvSpPr>
          <p:cNvPr id="5" name="TextBox 4"/>
          <p:cNvSpPr txBox="1"/>
          <p:nvPr/>
        </p:nvSpPr>
        <p:spPr>
          <a:xfrm>
            <a:off x="594360" y="5893308"/>
            <a:ext cx="10972800" cy="822960"/>
          </a:xfrm>
          <a:prstGeom prst="rect">
            <a:avLst/>
          </a:prstGeom>
          <a:noFill/>
        </p:spPr>
        <p:txBody>
          <a:bodyPr wrap="square" lIns="0" rIns="0" tIns="0" bIns="0">
            <a:spAutoFit/>
          </a:bodyPr>
          <a:lstStyle/>
          <a:p>
            <a:r>
              <a:rPr sz="1100" b="0">
                <a:solidFill>
                  <a:srgbClr val="5C6B77"/>
                </a:solidFill>
                <a:latin typeface="Calibri"/>
              </a:rPr>
              <a:t>Every cell, both repetitions, nothing averaged. Latency in ms and raw, not excess over the delay floor. In flight, cores and heap floor are steady-state readings from the mid-run sampler; MB/1k is allocation per 1,000 requests and promKB is bytes promoted to the old generation per request, both differenced across the measured window. All cells valid: 0 dropped iterations, 0.00 % errors.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47472"/>
            <a:ext cx="10972800" cy="237744"/>
          </a:xfrm>
          <a:prstGeom prst="rect">
            <a:avLst/>
          </a:prstGeom>
          <a:noFill/>
        </p:spPr>
        <p:txBody>
          <a:bodyPr wrap="square" lIns="0" rIns="0" tIns="0" bIns="0">
            <a:spAutoFit/>
          </a:bodyPr>
          <a:lstStyle/>
          <a:p>
            <a:r>
              <a:rPr sz="1100" b="1">
                <a:solidFill>
                  <a:srgbClr val="5C6B77"/>
                </a:solidFill>
                <a:latin typeface="Calibri"/>
              </a:rPr>
              <a:t>APPENDIX · ALL CELLS</a:t>
            </a:r>
          </a:p>
        </p:txBody>
      </p:sp>
      <p:sp>
        <p:nvSpPr>
          <p:cNvPr id="3" name="TextBox 2"/>
          <p:cNvSpPr txBox="1"/>
          <p:nvPr/>
        </p:nvSpPr>
        <p:spPr>
          <a:xfrm>
            <a:off x="594360" y="603504"/>
            <a:ext cx="10972800" cy="731520"/>
          </a:xfrm>
          <a:prstGeom prst="rect">
            <a:avLst/>
          </a:prstGeom>
          <a:noFill/>
        </p:spPr>
        <p:txBody>
          <a:bodyPr wrap="square" lIns="0" rIns="0" tIns="0" bIns="0">
            <a:spAutoFit/>
          </a:bodyPr>
          <a:lstStyle/>
          <a:p>
            <a:r>
              <a:rPr sz="2900" b="1">
                <a:solidFill>
                  <a:srgbClr val="1F2933"/>
                </a:solidFill>
                <a:latin typeface="Cambria"/>
              </a:rPr>
              <a:t>/api-1000 — every cell</a:t>
            </a:r>
          </a:p>
        </p:txBody>
      </p:sp>
      <p:graphicFrame>
        <p:nvGraphicFramePr>
          <p:cNvPr id="4" name="Table 3"/>
          <p:cNvGraphicFramePr>
            <a:graphicFrameLocks noGrp="1"/>
          </p:cNvGraphicFramePr>
          <p:nvPr/>
        </p:nvGraphicFramePr>
        <p:xfrm>
          <a:off x="594360" y="1417320"/>
          <a:ext cx="10972800" cy="4274820"/>
        </p:xfrm>
        <a:graphic>
          <a:graphicData uri="http://schemas.openxmlformats.org/drawingml/2006/table">
            <a:tbl>
              <a:tblPr/>
              <a:tblGrid>
                <a:gridCol w="822960"/>
                <a:gridCol w="960120"/>
                <a:gridCol w="502920"/>
                <a:gridCol w="731520"/>
                <a:gridCol w="914400"/>
                <a:gridCol w="914400"/>
                <a:gridCol w="914400"/>
                <a:gridCol w="1005840"/>
                <a:gridCol w="868680"/>
                <a:gridCol w="1051560"/>
                <a:gridCol w="822960"/>
                <a:gridCol w="822960"/>
                <a:gridCol w="640080"/>
              </a:tblGrid>
              <a:tr h="251460">
                <a:tc>
                  <a:txBody>
                    <a:bodyPr wrap="none"/>
                    <a:lstStyle/>
                    <a:p>
                      <a:pPr algn="r"/>
                      <a:r>
                        <a:rPr sz="1100" b="1">
                          <a:solidFill>
                            <a:srgbClr val="1F2933"/>
                          </a:solidFill>
                          <a:latin typeface="Calibri"/>
                        </a:rPr>
                        <a:t>rate</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1">
                          <a:solidFill>
                            <a:srgbClr val="1F2933"/>
                          </a:solidFill>
                          <a:latin typeface="Calibri"/>
                        </a:rPr>
                        <a:t>build</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rep</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err %</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p50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p95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p99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in flight</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cores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heap floor</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MB/1k</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promKB</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1">
                          <a:solidFill>
                            <a:srgbClr val="1F2933"/>
                          </a:solidFill>
                          <a:latin typeface="Calibri"/>
                        </a:rPr>
                        <a:t>GC s</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0.080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0.079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1,022.9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0.103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0.77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1,002.1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0.097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181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1,010.2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0.119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1,010.6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0.118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1,065.4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0.164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312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1,002.5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1,067.0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0.163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390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1.62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1,019.8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0.145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0.37</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1,001.1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1,019.6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0.144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98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1,018.5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1,080.4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1,503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0.229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460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2.60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1,500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1,018.4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1,079.6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1,502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0.233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468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2.70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1,003.2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1,030.6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0.164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83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0.64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webflux</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1,004.8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1,029.2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0.168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96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39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0.63</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1,042.9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1,087.4</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2,009</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0.332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530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7.2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4.46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r h="251460">
                <a:tc>
                  <a:txBody>
                    <a:bodyPr wrap="none"/>
                    <a:lstStyle/>
                    <a:p>
                      <a:pPr algn="r"/>
                      <a:r>
                        <a:rPr sz="1100" b="0">
                          <a:solidFill>
                            <a:srgbClr val="1F2933"/>
                          </a:solidFill>
                          <a:latin typeface="Calibri"/>
                        </a:rPr>
                        <a:t>2,000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l"/>
                      <a:r>
                        <a:rPr sz="1100" b="0">
                          <a:solidFill>
                            <a:srgbClr val="1F2933"/>
                          </a:solidFill>
                          <a:latin typeface="Calibri"/>
                        </a:rPr>
                        <a:t>virtual</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0.00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1,000.6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1,040.5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1,083.5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2,011</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0.340</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528</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66</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6.5</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c>
                  <a:txBody>
                    <a:bodyPr wrap="none"/>
                    <a:lstStyle/>
                    <a:p>
                      <a:pPr algn="r"/>
                      <a:r>
                        <a:rPr sz="1100" b="0">
                          <a:solidFill>
                            <a:srgbClr val="1F2933"/>
                          </a:solidFill>
                          <a:latin typeface="Calibri"/>
                        </a:rPr>
                        <a:t>4.62</a:t>
                      </a:r>
                    </a:p>
                  </a:txBody>
                  <a:tcPr marL="36576" marR="36576" marT="9144" marB="9144" anchor="ctr">
                    <a:lnL w="12700" cap="flat" cmpd="sng" algn="ctr">
                      <a:solidFill>
                        <a:srgbClr val="D9E0E6"/>
                      </a:solidFill>
                      <a:prstDash val="solid"/>
                      <a:round/>
                      <a:headEnd type="none" w="med" len="med"/>
                      <a:tailEnd type="none" w="med" len="med"/>
                    </a:lnL>
                    <a:lnR w="12700" cap="flat" cmpd="sng" algn="ctr">
                      <a:solidFill>
                        <a:srgbClr val="D9E0E6"/>
                      </a:solidFill>
                      <a:prstDash val="solid"/>
                      <a:round/>
                      <a:headEnd type="none" w="med" len="med"/>
                      <a:tailEnd type="none" w="med" len="med"/>
                    </a:lnR>
                    <a:lnT w="12700" cap="flat" cmpd="sng" algn="ctr">
                      <a:solidFill>
                        <a:srgbClr val="D9E0E6"/>
                      </a:solidFill>
                      <a:prstDash val="solid"/>
                      <a:round/>
                      <a:headEnd type="none" w="med" len="med"/>
                      <a:tailEnd type="none" w="med" len="med"/>
                    </a:lnT>
                    <a:lnB w="12700" cap="flat" cmpd="sng" algn="ctr">
                      <a:solidFill>
                        <a:srgbClr val="D9E0E6"/>
                      </a:solidFill>
                      <a:prstDash val="solid"/>
                      <a:round/>
                      <a:headEnd type="none" w="med" len="med"/>
                      <a:tailEnd type="none" w="med" len="med"/>
                    </a:lnB>
                    <a:solidFill>
                      <a:srgbClr val="FFFFFF"/>
                    </a:solidFill>
                  </a:tcPr>
                </a:tc>
              </a:tr>
            </a:tbl>
          </a:graphicData>
        </a:graphic>
      </p:graphicFrame>
      <p:sp>
        <p:nvSpPr>
          <p:cNvPr id="5" name="TextBox 4"/>
          <p:cNvSpPr txBox="1"/>
          <p:nvPr/>
        </p:nvSpPr>
        <p:spPr>
          <a:xfrm>
            <a:off x="594360" y="5893308"/>
            <a:ext cx="10972800" cy="822960"/>
          </a:xfrm>
          <a:prstGeom prst="rect">
            <a:avLst/>
          </a:prstGeom>
          <a:noFill/>
        </p:spPr>
        <p:txBody>
          <a:bodyPr wrap="square" lIns="0" rIns="0" tIns="0" bIns="0">
            <a:spAutoFit/>
          </a:bodyPr>
          <a:lstStyle/>
          <a:p>
            <a:r>
              <a:rPr sz="1100" b="0">
                <a:solidFill>
                  <a:srgbClr val="5C6B77"/>
                </a:solidFill>
                <a:latin typeface="Calibri"/>
              </a:rPr>
              <a:t>Every cell, both repetitions, nothing averaged. Latency in ms and raw, not excess over the delay floor. In flight, cores and heap floor are steady-state readings from the mid-run sampler; MB/1k is allocation per 1,000 requests and promKB is bytes promoted to the old generation per request, both differenced across the measured window. All cells valid: 0 dropped iterations, 0.00 % errors.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TotalTime>
  <Words>3284</Words>
  <Application>Microsoft Office PowerPoint</Application>
  <PresentationFormat>Widescreen</PresentationFormat>
  <Paragraphs>447</Paragraphs>
  <Slides>17</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WebFlux vs Virtual Threads - AWS run</dc:title>
  <dc:subject>PptxGenJS Presentation</dc:subject>
  <dc:creator>PptxGenJS</dc:creator>
  <cp:lastModifiedBy>Dio Deiva Wijaya</cp:lastModifiedBy>
  <cp:revision>10</cp:revision>
  <dcterms:created xsi:type="dcterms:W3CDTF">2026-09-21T12:00:53Z</dcterms:created>
  <dcterms:modified xsi:type="dcterms:W3CDTF">2026-09-22T14:03:28Z</dcterms:modified>
</cp:coreProperties>
</file>